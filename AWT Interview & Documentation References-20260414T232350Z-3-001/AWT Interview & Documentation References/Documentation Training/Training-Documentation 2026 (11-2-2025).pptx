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74" r:id="rId2"/>
    <p:sldId id="275" r:id="rId3"/>
    <p:sldId id="276" r:id="rId4"/>
    <p:sldId id="279" r:id="rId5"/>
    <p:sldId id="280" r:id="rId6"/>
    <p:sldId id="264" r:id="rId7"/>
    <p:sldId id="256" r:id="rId8"/>
    <p:sldId id="261" r:id="rId9"/>
    <p:sldId id="265" r:id="rId10"/>
    <p:sldId id="259" r:id="rId11"/>
    <p:sldId id="260" r:id="rId12"/>
    <p:sldId id="266" r:id="rId13"/>
    <p:sldId id="258" r:id="rId14"/>
    <p:sldId id="268" r:id="rId15"/>
    <p:sldId id="271" r:id="rId16"/>
    <p:sldId id="272" r:id="rId17"/>
    <p:sldId id="273" r:id="rId18"/>
    <p:sldId id="269" r:id="rId19"/>
    <p:sldId id="262" r:id="rId20"/>
    <p:sldId id="281" r:id="rId21"/>
    <p:sldId id="267" r:id="rId22"/>
    <p:sldId id="28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8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19" autoAdjust="0"/>
    <p:restoredTop sz="94660"/>
  </p:normalViewPr>
  <p:slideViewPr>
    <p:cSldViewPr>
      <p:cViewPr varScale="1">
        <p:scale>
          <a:sx n="64" d="100"/>
          <a:sy n="64" d="100"/>
        </p:scale>
        <p:origin x="1360" y="48"/>
      </p:cViewPr>
      <p:guideLst>
        <p:guide orient="horz" pos="2160"/>
        <p:guide pos="283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94BCA8-7510-4383-9E27-E05D547A544E}"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3422E91-01D3-4617-9BF4-10CBE4834087}">
      <dgm:prSet/>
      <dgm:spPr/>
      <dgm:t>
        <a:bodyPr/>
        <a:lstStyle/>
        <a:p>
          <a:r>
            <a:rPr lang="en-US" b="1"/>
            <a:t>Material Management</a:t>
          </a:r>
          <a:endParaRPr lang="en-US"/>
        </a:p>
      </dgm:t>
    </dgm:pt>
    <dgm:pt modelId="{05B8ED2A-8F2A-400A-A09A-E4F77B58F37A}" type="parTrans" cxnId="{DD6C9B71-653F-448C-9383-37DCD134FDE8}">
      <dgm:prSet/>
      <dgm:spPr/>
      <dgm:t>
        <a:bodyPr/>
        <a:lstStyle/>
        <a:p>
          <a:endParaRPr lang="en-US"/>
        </a:p>
      </dgm:t>
    </dgm:pt>
    <dgm:pt modelId="{FCAAE559-DE56-47C6-8746-1541810B79AF}" type="sibTrans" cxnId="{DD6C9B71-653F-448C-9383-37DCD134FDE8}">
      <dgm:prSet/>
      <dgm:spPr/>
      <dgm:t>
        <a:bodyPr/>
        <a:lstStyle/>
        <a:p>
          <a:endParaRPr lang="en-US"/>
        </a:p>
      </dgm:t>
    </dgm:pt>
    <dgm:pt modelId="{71A5B502-8B6D-4853-8848-FA0C94AEF1FF}">
      <dgm:prSet/>
      <dgm:spPr/>
      <dgm:t>
        <a:bodyPr/>
        <a:lstStyle/>
        <a:p>
          <a:r>
            <a:rPr lang="en-US" b="1"/>
            <a:t>Track all Material Purchased for the Bot.  This can be done through Copies of Purchase Orders</a:t>
          </a:r>
          <a:endParaRPr lang="en-US"/>
        </a:p>
      </dgm:t>
    </dgm:pt>
    <dgm:pt modelId="{E6459F51-19A5-447D-8226-36C6D0C095BF}" type="parTrans" cxnId="{DDECBB41-BCB3-47B0-8A93-59A083209C2D}">
      <dgm:prSet/>
      <dgm:spPr/>
      <dgm:t>
        <a:bodyPr/>
        <a:lstStyle/>
        <a:p>
          <a:endParaRPr lang="en-US"/>
        </a:p>
      </dgm:t>
    </dgm:pt>
    <dgm:pt modelId="{B47133A1-1629-459B-85E6-CEC1318C57E4}" type="sibTrans" cxnId="{DDECBB41-BCB3-47B0-8A93-59A083209C2D}">
      <dgm:prSet/>
      <dgm:spPr/>
      <dgm:t>
        <a:bodyPr/>
        <a:lstStyle/>
        <a:p>
          <a:endParaRPr lang="en-US"/>
        </a:p>
      </dgm:t>
    </dgm:pt>
    <dgm:pt modelId="{C22E55E4-D07D-4780-AA60-E9CEDBC33D0A}">
      <dgm:prSet/>
      <dgm:spPr/>
      <dgm:t>
        <a:bodyPr/>
        <a:lstStyle/>
        <a:p>
          <a:r>
            <a:rPr lang="en-US" b="1"/>
            <a:t>A Bill of Material Showing how All of the Material Relates to Each Other (Quantity Needed for the Bot, Location on the Bot, etc.)</a:t>
          </a:r>
          <a:endParaRPr lang="en-US"/>
        </a:p>
      </dgm:t>
    </dgm:pt>
    <dgm:pt modelId="{0682D42D-B8FB-4ECC-81AB-B34DD52B0CD7}" type="parTrans" cxnId="{395D9E5B-3C17-481A-929E-BA9B2150DC3E}">
      <dgm:prSet/>
      <dgm:spPr/>
      <dgm:t>
        <a:bodyPr/>
        <a:lstStyle/>
        <a:p>
          <a:endParaRPr lang="en-US"/>
        </a:p>
      </dgm:t>
    </dgm:pt>
    <dgm:pt modelId="{00D188A7-B870-4976-879E-4C2773229C62}" type="sibTrans" cxnId="{395D9E5B-3C17-481A-929E-BA9B2150DC3E}">
      <dgm:prSet/>
      <dgm:spPr/>
      <dgm:t>
        <a:bodyPr/>
        <a:lstStyle/>
        <a:p>
          <a:endParaRPr lang="en-US"/>
        </a:p>
      </dgm:t>
    </dgm:pt>
    <dgm:pt modelId="{E87097E2-7A71-441D-A87B-34CF57631E44}">
      <dgm:prSet/>
      <dgm:spPr/>
      <dgm:t>
        <a:bodyPr/>
        <a:lstStyle/>
        <a:p>
          <a:r>
            <a:rPr lang="en-US" b="1"/>
            <a:t>What the judges look for:</a:t>
          </a:r>
          <a:endParaRPr lang="en-US"/>
        </a:p>
      </dgm:t>
    </dgm:pt>
    <dgm:pt modelId="{8D659296-0400-4EE9-93AA-CAFF569AE412}" type="parTrans" cxnId="{AA4B0BA4-70DF-4DE7-A9E6-1D85F05E5FC6}">
      <dgm:prSet/>
      <dgm:spPr/>
      <dgm:t>
        <a:bodyPr/>
        <a:lstStyle/>
        <a:p>
          <a:endParaRPr lang="en-US"/>
        </a:p>
      </dgm:t>
    </dgm:pt>
    <dgm:pt modelId="{076D65A6-4BDE-4FA5-BAAC-75483706600A}" type="sibTrans" cxnId="{AA4B0BA4-70DF-4DE7-A9E6-1D85F05E5FC6}">
      <dgm:prSet/>
      <dgm:spPr/>
      <dgm:t>
        <a:bodyPr/>
        <a:lstStyle/>
        <a:p>
          <a:endParaRPr lang="en-US"/>
        </a:p>
      </dgm:t>
    </dgm:pt>
    <dgm:pt modelId="{CA869E09-713D-45A3-8BD9-5139704B9FD5}">
      <dgm:prSet/>
      <dgm:spPr/>
      <dgm:t>
        <a:bodyPr/>
        <a:lstStyle/>
        <a:p>
          <a:r>
            <a:rPr lang="en-US" b="1"/>
            <a:t>Good: Are all of the  materials listed?</a:t>
          </a:r>
          <a:endParaRPr lang="en-US"/>
        </a:p>
      </dgm:t>
    </dgm:pt>
    <dgm:pt modelId="{5B9CFBC4-4D1A-4B82-BB96-707BDD828437}" type="parTrans" cxnId="{3ADE80A9-8597-4277-A4B5-B4332E8796B0}">
      <dgm:prSet/>
      <dgm:spPr/>
      <dgm:t>
        <a:bodyPr/>
        <a:lstStyle/>
        <a:p>
          <a:endParaRPr lang="en-US"/>
        </a:p>
      </dgm:t>
    </dgm:pt>
    <dgm:pt modelId="{8BA1323A-419D-4ECF-A05D-B1F0F2F03AA1}" type="sibTrans" cxnId="{3ADE80A9-8597-4277-A4B5-B4332E8796B0}">
      <dgm:prSet/>
      <dgm:spPr/>
      <dgm:t>
        <a:bodyPr/>
        <a:lstStyle/>
        <a:p>
          <a:endParaRPr lang="en-US"/>
        </a:p>
      </dgm:t>
    </dgm:pt>
    <dgm:pt modelId="{05A33FD8-FDCC-4F44-9CAD-564EA5DEB47F}">
      <dgm:prSet/>
      <dgm:spPr/>
      <dgm:t>
        <a:bodyPr/>
        <a:lstStyle/>
        <a:p>
          <a:r>
            <a:rPr lang="en-US" b="1"/>
            <a:t>Excellent: Is there a Bill of Material showing how the materials are related?</a:t>
          </a:r>
          <a:endParaRPr lang="en-US"/>
        </a:p>
      </dgm:t>
    </dgm:pt>
    <dgm:pt modelId="{6667340F-4B49-4E45-84B2-A5731F0B7EF8}" type="parTrans" cxnId="{DBD6D3AC-0601-4A72-8220-7CD0EDCDE0EA}">
      <dgm:prSet/>
      <dgm:spPr/>
      <dgm:t>
        <a:bodyPr/>
        <a:lstStyle/>
        <a:p>
          <a:endParaRPr lang="en-US"/>
        </a:p>
      </dgm:t>
    </dgm:pt>
    <dgm:pt modelId="{2B3A14A6-F906-4A83-88CE-D5877BEBB4EC}" type="sibTrans" cxnId="{DBD6D3AC-0601-4A72-8220-7CD0EDCDE0EA}">
      <dgm:prSet/>
      <dgm:spPr/>
      <dgm:t>
        <a:bodyPr/>
        <a:lstStyle/>
        <a:p>
          <a:endParaRPr lang="en-US"/>
        </a:p>
      </dgm:t>
    </dgm:pt>
    <dgm:pt modelId="{D895529F-4E9C-400B-9945-7EADF6DF004D}">
      <dgm:prSet/>
      <dgm:spPr/>
      <dgm:t>
        <a:bodyPr/>
        <a:lstStyle/>
        <a:p>
          <a:r>
            <a:rPr lang="en-US" b="1"/>
            <a:t>Accounting/Budget</a:t>
          </a:r>
          <a:endParaRPr lang="en-US"/>
        </a:p>
      </dgm:t>
    </dgm:pt>
    <dgm:pt modelId="{8F287DD0-2E2C-4685-9DCB-3B9EFBC96F24}" type="parTrans" cxnId="{BBA46B96-4B5B-4430-8468-AADD14B7CC94}">
      <dgm:prSet/>
      <dgm:spPr/>
      <dgm:t>
        <a:bodyPr/>
        <a:lstStyle/>
        <a:p>
          <a:endParaRPr lang="en-US"/>
        </a:p>
      </dgm:t>
    </dgm:pt>
    <dgm:pt modelId="{E714C173-140D-4846-B7CD-08175EFECF3A}" type="sibTrans" cxnId="{BBA46B96-4B5B-4430-8468-AADD14B7CC94}">
      <dgm:prSet/>
      <dgm:spPr/>
      <dgm:t>
        <a:bodyPr/>
        <a:lstStyle/>
        <a:p>
          <a:endParaRPr lang="en-US"/>
        </a:p>
      </dgm:t>
    </dgm:pt>
    <dgm:pt modelId="{1E485D8A-A951-4D3D-BD45-2C1AA4F12FE6}">
      <dgm:prSet/>
      <dgm:spPr/>
      <dgm:t>
        <a:bodyPr/>
        <a:lstStyle/>
        <a:p>
          <a:r>
            <a:rPr lang="en-US" b="1"/>
            <a:t>This should be a Listing of all Expenses Incurred.  This can be Tracked during the Project through Purchase Orders, then make a List at the End of the Project to Summarize</a:t>
          </a:r>
          <a:endParaRPr lang="en-US"/>
        </a:p>
      </dgm:t>
    </dgm:pt>
    <dgm:pt modelId="{3397D0B7-A80C-4726-8F4A-15089463F593}" type="parTrans" cxnId="{6724C7B0-B458-410F-9906-7F097CE7A8EA}">
      <dgm:prSet/>
      <dgm:spPr/>
      <dgm:t>
        <a:bodyPr/>
        <a:lstStyle/>
        <a:p>
          <a:endParaRPr lang="en-US"/>
        </a:p>
      </dgm:t>
    </dgm:pt>
    <dgm:pt modelId="{7E7BE927-119A-41E4-909B-D0EBACFCEC67}" type="sibTrans" cxnId="{6724C7B0-B458-410F-9906-7F097CE7A8EA}">
      <dgm:prSet/>
      <dgm:spPr/>
      <dgm:t>
        <a:bodyPr/>
        <a:lstStyle/>
        <a:p>
          <a:endParaRPr lang="en-US"/>
        </a:p>
      </dgm:t>
    </dgm:pt>
    <dgm:pt modelId="{D4595288-B830-4AEE-97F1-F0BCA9FE62B1}">
      <dgm:prSet/>
      <dgm:spPr/>
      <dgm:t>
        <a:bodyPr/>
        <a:lstStyle/>
        <a:p>
          <a:r>
            <a:rPr lang="en-US" b="1"/>
            <a:t>Purchase Orders of All of the Material</a:t>
          </a:r>
          <a:endParaRPr lang="en-US"/>
        </a:p>
      </dgm:t>
    </dgm:pt>
    <dgm:pt modelId="{E83AC65E-5913-43C6-8D34-A6AB7B37970F}" type="parTrans" cxnId="{BA61B3CF-A966-4273-90BB-5856A9879504}">
      <dgm:prSet/>
      <dgm:spPr/>
      <dgm:t>
        <a:bodyPr/>
        <a:lstStyle/>
        <a:p>
          <a:endParaRPr lang="en-US"/>
        </a:p>
      </dgm:t>
    </dgm:pt>
    <dgm:pt modelId="{A1FA3E2E-94D2-4870-9802-E76120307E5A}" type="sibTrans" cxnId="{BA61B3CF-A966-4273-90BB-5856A9879504}">
      <dgm:prSet/>
      <dgm:spPr/>
      <dgm:t>
        <a:bodyPr/>
        <a:lstStyle/>
        <a:p>
          <a:endParaRPr lang="en-US"/>
        </a:p>
      </dgm:t>
    </dgm:pt>
    <dgm:pt modelId="{4278F440-0918-4786-AB0E-A9CA889C1638}">
      <dgm:prSet/>
      <dgm:spPr/>
      <dgm:t>
        <a:bodyPr/>
        <a:lstStyle/>
        <a:p>
          <a:r>
            <a:rPr lang="en-US" b="1"/>
            <a:t>Purchase Orders of T-shirts/Promotional Materials</a:t>
          </a:r>
          <a:endParaRPr lang="en-US"/>
        </a:p>
      </dgm:t>
    </dgm:pt>
    <dgm:pt modelId="{D7FF28B5-2207-4810-A48F-5AF87C1647E0}" type="parTrans" cxnId="{EED85DBE-F1E4-44A0-A0D7-BA2D95DE3164}">
      <dgm:prSet/>
      <dgm:spPr/>
      <dgm:t>
        <a:bodyPr/>
        <a:lstStyle/>
        <a:p>
          <a:endParaRPr lang="en-US"/>
        </a:p>
      </dgm:t>
    </dgm:pt>
    <dgm:pt modelId="{F7C88E14-050C-4CE2-AA68-481FEE6F54FA}" type="sibTrans" cxnId="{EED85DBE-F1E4-44A0-A0D7-BA2D95DE3164}">
      <dgm:prSet/>
      <dgm:spPr/>
      <dgm:t>
        <a:bodyPr/>
        <a:lstStyle/>
        <a:p>
          <a:endParaRPr lang="en-US"/>
        </a:p>
      </dgm:t>
    </dgm:pt>
    <dgm:pt modelId="{9324C4C4-58E5-424C-BCDA-8DF9C97EA08E}">
      <dgm:prSet/>
      <dgm:spPr/>
      <dgm:t>
        <a:bodyPr/>
        <a:lstStyle/>
        <a:p>
          <a:r>
            <a:rPr lang="en-US" b="1"/>
            <a:t>What the judges look for:</a:t>
          </a:r>
          <a:endParaRPr lang="en-US"/>
        </a:p>
      </dgm:t>
    </dgm:pt>
    <dgm:pt modelId="{911D6305-53EA-49C5-B057-A82906D378BD}" type="parTrans" cxnId="{6BA29455-4659-4B26-A90A-3094345E7227}">
      <dgm:prSet/>
      <dgm:spPr/>
      <dgm:t>
        <a:bodyPr/>
        <a:lstStyle/>
        <a:p>
          <a:endParaRPr lang="en-US"/>
        </a:p>
      </dgm:t>
    </dgm:pt>
    <dgm:pt modelId="{8512CBF1-76A1-4CA0-A4D2-0573C1EE8F32}" type="sibTrans" cxnId="{6BA29455-4659-4B26-A90A-3094345E7227}">
      <dgm:prSet/>
      <dgm:spPr/>
      <dgm:t>
        <a:bodyPr/>
        <a:lstStyle/>
        <a:p>
          <a:endParaRPr lang="en-US"/>
        </a:p>
      </dgm:t>
    </dgm:pt>
    <dgm:pt modelId="{F490495F-CA7D-4BE0-801C-ABB70E31A233}">
      <dgm:prSet/>
      <dgm:spPr/>
      <dgm:t>
        <a:bodyPr/>
        <a:lstStyle/>
        <a:p>
          <a:r>
            <a:rPr lang="en-US" b="1"/>
            <a:t>Good: Is there a Budget?</a:t>
          </a:r>
          <a:endParaRPr lang="en-US"/>
        </a:p>
      </dgm:t>
    </dgm:pt>
    <dgm:pt modelId="{60FA71EA-E081-46A5-BCC3-839EB85F31F4}" type="parTrans" cxnId="{A4C6D93A-F480-4F30-9D0B-A4AC29149217}">
      <dgm:prSet/>
      <dgm:spPr/>
      <dgm:t>
        <a:bodyPr/>
        <a:lstStyle/>
        <a:p>
          <a:endParaRPr lang="en-US"/>
        </a:p>
      </dgm:t>
    </dgm:pt>
    <dgm:pt modelId="{E5698DC5-A967-4E69-BE65-65A09C846033}" type="sibTrans" cxnId="{A4C6D93A-F480-4F30-9D0B-A4AC29149217}">
      <dgm:prSet/>
      <dgm:spPr/>
      <dgm:t>
        <a:bodyPr/>
        <a:lstStyle/>
        <a:p>
          <a:endParaRPr lang="en-US"/>
        </a:p>
      </dgm:t>
    </dgm:pt>
    <dgm:pt modelId="{3C01A17D-FFBA-4445-84B8-165BAB887027}">
      <dgm:prSet/>
      <dgm:spPr/>
      <dgm:t>
        <a:bodyPr/>
        <a:lstStyle/>
        <a:p>
          <a:r>
            <a:rPr lang="en-US" b="1"/>
            <a:t>Excellent: Budget that is Clearly Organized and Money Adds up Correctly</a:t>
          </a:r>
          <a:endParaRPr lang="en-US"/>
        </a:p>
      </dgm:t>
    </dgm:pt>
    <dgm:pt modelId="{2C492C02-F3CD-4DE6-AF49-CF52CFCD0586}" type="parTrans" cxnId="{8CF84F23-AC1D-4377-95C6-F0E7E639DDF0}">
      <dgm:prSet/>
      <dgm:spPr/>
      <dgm:t>
        <a:bodyPr/>
        <a:lstStyle/>
        <a:p>
          <a:endParaRPr lang="en-US"/>
        </a:p>
      </dgm:t>
    </dgm:pt>
    <dgm:pt modelId="{5F3353B2-E1EA-47C0-AD68-8D785708EB74}" type="sibTrans" cxnId="{8CF84F23-AC1D-4377-95C6-F0E7E639DDF0}">
      <dgm:prSet/>
      <dgm:spPr/>
      <dgm:t>
        <a:bodyPr/>
        <a:lstStyle/>
        <a:p>
          <a:endParaRPr lang="en-US"/>
        </a:p>
      </dgm:t>
    </dgm:pt>
    <dgm:pt modelId="{F78CACD9-2664-4690-B705-185C2FC96AEC}" type="pres">
      <dgm:prSet presAssocID="{1794BCA8-7510-4383-9E27-E05D547A544E}" presName="linear" presStyleCnt="0">
        <dgm:presLayoutVars>
          <dgm:animLvl val="lvl"/>
          <dgm:resizeHandles val="exact"/>
        </dgm:presLayoutVars>
      </dgm:prSet>
      <dgm:spPr/>
    </dgm:pt>
    <dgm:pt modelId="{82B461DF-675C-469F-AE8E-133075C884DC}" type="pres">
      <dgm:prSet presAssocID="{A3422E91-01D3-4617-9BF4-10CBE4834087}" presName="parentText" presStyleLbl="node1" presStyleIdx="0" presStyleCnt="2">
        <dgm:presLayoutVars>
          <dgm:chMax val="0"/>
          <dgm:bulletEnabled val="1"/>
        </dgm:presLayoutVars>
      </dgm:prSet>
      <dgm:spPr/>
    </dgm:pt>
    <dgm:pt modelId="{566AF6AB-56C3-433F-A368-51ED18E191C4}" type="pres">
      <dgm:prSet presAssocID="{A3422E91-01D3-4617-9BF4-10CBE4834087}" presName="childText" presStyleLbl="revTx" presStyleIdx="0" presStyleCnt="2">
        <dgm:presLayoutVars>
          <dgm:bulletEnabled val="1"/>
        </dgm:presLayoutVars>
      </dgm:prSet>
      <dgm:spPr/>
    </dgm:pt>
    <dgm:pt modelId="{37872601-D638-4809-9BDD-F3BF288C4B45}" type="pres">
      <dgm:prSet presAssocID="{D895529F-4E9C-400B-9945-7EADF6DF004D}" presName="parentText" presStyleLbl="node1" presStyleIdx="1" presStyleCnt="2">
        <dgm:presLayoutVars>
          <dgm:chMax val="0"/>
          <dgm:bulletEnabled val="1"/>
        </dgm:presLayoutVars>
      </dgm:prSet>
      <dgm:spPr/>
    </dgm:pt>
    <dgm:pt modelId="{D07FD11C-6FFB-47C9-AC45-B43498554F30}" type="pres">
      <dgm:prSet presAssocID="{D895529F-4E9C-400B-9945-7EADF6DF004D}" presName="childText" presStyleLbl="revTx" presStyleIdx="1" presStyleCnt="2">
        <dgm:presLayoutVars>
          <dgm:bulletEnabled val="1"/>
        </dgm:presLayoutVars>
      </dgm:prSet>
      <dgm:spPr/>
    </dgm:pt>
  </dgm:ptLst>
  <dgm:cxnLst>
    <dgm:cxn modelId="{A04A4303-AEC0-471D-BE3B-9D5B6273D902}" type="presOf" srcId="{D895529F-4E9C-400B-9945-7EADF6DF004D}" destId="{37872601-D638-4809-9BDD-F3BF288C4B45}" srcOrd="0" destOrd="0" presId="urn:microsoft.com/office/officeart/2005/8/layout/vList2"/>
    <dgm:cxn modelId="{413A241C-EB28-4655-956B-D589A1DDA07D}" type="presOf" srcId="{D4595288-B830-4AEE-97F1-F0BCA9FE62B1}" destId="{D07FD11C-6FFB-47C9-AC45-B43498554F30}" srcOrd="0" destOrd="1" presId="urn:microsoft.com/office/officeart/2005/8/layout/vList2"/>
    <dgm:cxn modelId="{8CF84F23-AC1D-4377-95C6-F0E7E639DDF0}" srcId="{9324C4C4-58E5-424C-BCDA-8DF9C97EA08E}" destId="{3C01A17D-FFBA-4445-84B8-165BAB887027}" srcOrd="1" destOrd="0" parTransId="{2C492C02-F3CD-4DE6-AF49-CF52CFCD0586}" sibTransId="{5F3353B2-E1EA-47C0-AD68-8D785708EB74}"/>
    <dgm:cxn modelId="{A4C6D93A-F480-4F30-9D0B-A4AC29149217}" srcId="{9324C4C4-58E5-424C-BCDA-8DF9C97EA08E}" destId="{F490495F-CA7D-4BE0-801C-ABB70E31A233}" srcOrd="0" destOrd="0" parTransId="{60FA71EA-E081-46A5-BCC3-839EB85F31F4}" sibTransId="{E5698DC5-A967-4E69-BE65-65A09C846033}"/>
    <dgm:cxn modelId="{395D9E5B-3C17-481A-929E-BA9B2150DC3E}" srcId="{A3422E91-01D3-4617-9BF4-10CBE4834087}" destId="{C22E55E4-D07D-4780-AA60-E9CEDBC33D0A}" srcOrd="1" destOrd="0" parTransId="{0682D42D-B8FB-4ECC-81AB-B34DD52B0CD7}" sibTransId="{00D188A7-B870-4976-879E-4C2773229C62}"/>
    <dgm:cxn modelId="{DDECBB41-BCB3-47B0-8A93-59A083209C2D}" srcId="{A3422E91-01D3-4617-9BF4-10CBE4834087}" destId="{71A5B502-8B6D-4853-8848-FA0C94AEF1FF}" srcOrd="0" destOrd="0" parTransId="{E6459F51-19A5-447D-8226-36C6D0C095BF}" sibTransId="{B47133A1-1629-459B-85E6-CEC1318C57E4}"/>
    <dgm:cxn modelId="{3B436347-4E77-446F-87B7-58F7ADEFD89D}" type="presOf" srcId="{3C01A17D-FFBA-4445-84B8-165BAB887027}" destId="{D07FD11C-6FFB-47C9-AC45-B43498554F30}" srcOrd="0" destOrd="5" presId="urn:microsoft.com/office/officeart/2005/8/layout/vList2"/>
    <dgm:cxn modelId="{8ACDFA48-D040-4ED6-8249-FF2B7BFFC460}" type="presOf" srcId="{CA869E09-713D-45A3-8BD9-5139704B9FD5}" destId="{566AF6AB-56C3-433F-A368-51ED18E191C4}" srcOrd="0" destOrd="3" presId="urn:microsoft.com/office/officeart/2005/8/layout/vList2"/>
    <dgm:cxn modelId="{DD6C9B71-653F-448C-9383-37DCD134FDE8}" srcId="{1794BCA8-7510-4383-9E27-E05D547A544E}" destId="{A3422E91-01D3-4617-9BF4-10CBE4834087}" srcOrd="0" destOrd="0" parTransId="{05B8ED2A-8F2A-400A-A09A-E4F77B58F37A}" sibTransId="{FCAAE559-DE56-47C6-8746-1541810B79AF}"/>
    <dgm:cxn modelId="{6BA29455-4659-4B26-A90A-3094345E7227}" srcId="{D895529F-4E9C-400B-9945-7EADF6DF004D}" destId="{9324C4C4-58E5-424C-BCDA-8DF9C97EA08E}" srcOrd="1" destOrd="0" parTransId="{911D6305-53EA-49C5-B057-A82906D378BD}" sibTransId="{8512CBF1-76A1-4CA0-A4D2-0573C1EE8F32}"/>
    <dgm:cxn modelId="{5CA69076-2D4D-475A-9767-D158A80D8172}" type="presOf" srcId="{1E485D8A-A951-4D3D-BD45-2C1AA4F12FE6}" destId="{D07FD11C-6FFB-47C9-AC45-B43498554F30}" srcOrd="0" destOrd="0" presId="urn:microsoft.com/office/officeart/2005/8/layout/vList2"/>
    <dgm:cxn modelId="{98419381-B4DA-48EC-B2A6-34EC9AB0336C}" type="presOf" srcId="{C22E55E4-D07D-4780-AA60-E9CEDBC33D0A}" destId="{566AF6AB-56C3-433F-A368-51ED18E191C4}" srcOrd="0" destOrd="1" presId="urn:microsoft.com/office/officeart/2005/8/layout/vList2"/>
    <dgm:cxn modelId="{88E61D8C-074A-4BDC-BC6F-28086160691A}" type="presOf" srcId="{F490495F-CA7D-4BE0-801C-ABB70E31A233}" destId="{D07FD11C-6FFB-47C9-AC45-B43498554F30}" srcOrd="0" destOrd="4" presId="urn:microsoft.com/office/officeart/2005/8/layout/vList2"/>
    <dgm:cxn modelId="{BBA46B96-4B5B-4430-8468-AADD14B7CC94}" srcId="{1794BCA8-7510-4383-9E27-E05D547A544E}" destId="{D895529F-4E9C-400B-9945-7EADF6DF004D}" srcOrd="1" destOrd="0" parTransId="{8F287DD0-2E2C-4685-9DCB-3B9EFBC96F24}" sibTransId="{E714C173-140D-4846-B7CD-08175EFECF3A}"/>
    <dgm:cxn modelId="{25CD2B97-8BAB-4B8B-A1C8-E4D1B85CCCD1}" type="presOf" srcId="{1794BCA8-7510-4383-9E27-E05D547A544E}" destId="{F78CACD9-2664-4690-B705-185C2FC96AEC}" srcOrd="0" destOrd="0" presId="urn:microsoft.com/office/officeart/2005/8/layout/vList2"/>
    <dgm:cxn modelId="{878D219C-1C6B-4B87-80C3-772297CB52D7}" type="presOf" srcId="{71A5B502-8B6D-4853-8848-FA0C94AEF1FF}" destId="{566AF6AB-56C3-433F-A368-51ED18E191C4}" srcOrd="0" destOrd="0" presId="urn:microsoft.com/office/officeart/2005/8/layout/vList2"/>
    <dgm:cxn modelId="{AA4B0BA4-70DF-4DE7-A9E6-1D85F05E5FC6}" srcId="{C22E55E4-D07D-4780-AA60-E9CEDBC33D0A}" destId="{E87097E2-7A71-441D-A87B-34CF57631E44}" srcOrd="0" destOrd="0" parTransId="{8D659296-0400-4EE9-93AA-CAFF569AE412}" sibTransId="{076D65A6-4BDE-4FA5-BAAC-75483706600A}"/>
    <dgm:cxn modelId="{3ADE80A9-8597-4277-A4B5-B4332E8796B0}" srcId="{E87097E2-7A71-441D-A87B-34CF57631E44}" destId="{CA869E09-713D-45A3-8BD9-5139704B9FD5}" srcOrd="0" destOrd="0" parTransId="{5B9CFBC4-4D1A-4B82-BB96-707BDD828437}" sibTransId="{8BA1323A-419D-4ECF-A05D-B1F0F2F03AA1}"/>
    <dgm:cxn modelId="{DBD6D3AC-0601-4A72-8220-7CD0EDCDE0EA}" srcId="{E87097E2-7A71-441D-A87B-34CF57631E44}" destId="{05A33FD8-FDCC-4F44-9CAD-564EA5DEB47F}" srcOrd="1" destOrd="0" parTransId="{6667340F-4B49-4E45-84B2-A5731F0B7EF8}" sibTransId="{2B3A14A6-F906-4A83-88CE-D5877BEBB4EC}"/>
    <dgm:cxn modelId="{6724C7B0-B458-410F-9906-7F097CE7A8EA}" srcId="{D895529F-4E9C-400B-9945-7EADF6DF004D}" destId="{1E485D8A-A951-4D3D-BD45-2C1AA4F12FE6}" srcOrd="0" destOrd="0" parTransId="{3397D0B7-A80C-4726-8F4A-15089463F593}" sibTransId="{7E7BE927-119A-41E4-909B-D0EBACFCEC67}"/>
    <dgm:cxn modelId="{EED85DBE-F1E4-44A0-A0D7-BA2D95DE3164}" srcId="{1E485D8A-A951-4D3D-BD45-2C1AA4F12FE6}" destId="{4278F440-0918-4786-AB0E-A9CA889C1638}" srcOrd="1" destOrd="0" parTransId="{D7FF28B5-2207-4810-A48F-5AF87C1647E0}" sibTransId="{F7C88E14-050C-4CE2-AA68-481FEE6F54FA}"/>
    <dgm:cxn modelId="{8EB1FACD-6306-4665-BAB0-92E506E89D1B}" type="presOf" srcId="{A3422E91-01D3-4617-9BF4-10CBE4834087}" destId="{82B461DF-675C-469F-AE8E-133075C884DC}" srcOrd="0" destOrd="0" presId="urn:microsoft.com/office/officeart/2005/8/layout/vList2"/>
    <dgm:cxn modelId="{4CED09CE-4542-437E-8E90-A19FFAD3E9E1}" type="presOf" srcId="{E87097E2-7A71-441D-A87B-34CF57631E44}" destId="{566AF6AB-56C3-433F-A368-51ED18E191C4}" srcOrd="0" destOrd="2" presId="urn:microsoft.com/office/officeart/2005/8/layout/vList2"/>
    <dgm:cxn modelId="{BA61B3CF-A966-4273-90BB-5856A9879504}" srcId="{1E485D8A-A951-4D3D-BD45-2C1AA4F12FE6}" destId="{D4595288-B830-4AEE-97F1-F0BCA9FE62B1}" srcOrd="0" destOrd="0" parTransId="{E83AC65E-5913-43C6-8D34-A6AB7B37970F}" sibTransId="{A1FA3E2E-94D2-4870-9802-E76120307E5A}"/>
    <dgm:cxn modelId="{A96446F3-3535-4B12-905C-BA880FD1B70B}" type="presOf" srcId="{05A33FD8-FDCC-4F44-9CAD-564EA5DEB47F}" destId="{566AF6AB-56C3-433F-A368-51ED18E191C4}" srcOrd="0" destOrd="4" presId="urn:microsoft.com/office/officeart/2005/8/layout/vList2"/>
    <dgm:cxn modelId="{22E53CF9-C0C1-481B-A342-A98EE949F584}" type="presOf" srcId="{4278F440-0918-4786-AB0E-A9CA889C1638}" destId="{D07FD11C-6FFB-47C9-AC45-B43498554F30}" srcOrd="0" destOrd="2" presId="urn:microsoft.com/office/officeart/2005/8/layout/vList2"/>
    <dgm:cxn modelId="{7A82B6F9-C8DE-438B-AC61-0573906E1152}" type="presOf" srcId="{9324C4C4-58E5-424C-BCDA-8DF9C97EA08E}" destId="{D07FD11C-6FFB-47C9-AC45-B43498554F30}" srcOrd="0" destOrd="3" presId="urn:microsoft.com/office/officeart/2005/8/layout/vList2"/>
    <dgm:cxn modelId="{41BCB7C6-70C1-46C6-AA10-631C1E325416}" type="presParOf" srcId="{F78CACD9-2664-4690-B705-185C2FC96AEC}" destId="{82B461DF-675C-469F-AE8E-133075C884DC}" srcOrd="0" destOrd="0" presId="urn:microsoft.com/office/officeart/2005/8/layout/vList2"/>
    <dgm:cxn modelId="{143E6CA7-FED6-4FF4-9D24-BF22B6721BD5}" type="presParOf" srcId="{F78CACD9-2664-4690-B705-185C2FC96AEC}" destId="{566AF6AB-56C3-433F-A368-51ED18E191C4}" srcOrd="1" destOrd="0" presId="urn:microsoft.com/office/officeart/2005/8/layout/vList2"/>
    <dgm:cxn modelId="{DE4F7FC8-5F86-43C7-A20E-56862512607A}" type="presParOf" srcId="{F78CACD9-2664-4690-B705-185C2FC96AEC}" destId="{37872601-D638-4809-9BDD-F3BF288C4B45}" srcOrd="2" destOrd="0" presId="urn:microsoft.com/office/officeart/2005/8/layout/vList2"/>
    <dgm:cxn modelId="{32A98DB6-8B6A-4AB8-9C36-8F6EE7B5B86A}" type="presParOf" srcId="{F78CACD9-2664-4690-B705-185C2FC96AEC}" destId="{D07FD11C-6FFB-47C9-AC45-B43498554F30}" srcOrd="3"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B461DF-675C-469F-AE8E-133075C884DC}">
      <dsp:nvSpPr>
        <dsp:cNvPr id="0" name=""/>
        <dsp:cNvSpPr/>
      </dsp:nvSpPr>
      <dsp:spPr>
        <a:xfrm>
          <a:off x="0" y="127255"/>
          <a:ext cx="4929186" cy="444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Material Management</a:t>
          </a:r>
          <a:endParaRPr lang="en-US" sz="1900" kern="1200"/>
        </a:p>
      </dsp:txBody>
      <dsp:txXfrm>
        <a:off x="21704" y="148959"/>
        <a:ext cx="4885778" cy="401192"/>
      </dsp:txXfrm>
    </dsp:sp>
    <dsp:sp modelId="{566AF6AB-56C3-433F-A368-51ED18E191C4}">
      <dsp:nvSpPr>
        <dsp:cNvPr id="0" name=""/>
        <dsp:cNvSpPr/>
      </dsp:nvSpPr>
      <dsp:spPr>
        <a:xfrm>
          <a:off x="0" y="571855"/>
          <a:ext cx="4929186" cy="20058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50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1" kern="1200"/>
            <a:t>Track all Material Purchased for the Bot.  This can be done through Copies of Purchase Orders</a:t>
          </a:r>
          <a:endParaRPr lang="en-US" sz="1500" kern="1200"/>
        </a:p>
        <a:p>
          <a:pPr marL="114300" lvl="1" indent="-114300" algn="l" defTabSz="666750">
            <a:lnSpc>
              <a:spcPct val="90000"/>
            </a:lnSpc>
            <a:spcBef>
              <a:spcPct val="0"/>
            </a:spcBef>
            <a:spcAft>
              <a:spcPct val="20000"/>
            </a:spcAft>
            <a:buChar char="•"/>
          </a:pPr>
          <a:r>
            <a:rPr lang="en-US" sz="1500" b="1" kern="1200"/>
            <a:t>A Bill of Material Showing how All of the Material Relates to Each Other (Quantity Needed for the Bot, Location on the Bot, etc.)</a:t>
          </a:r>
          <a:endParaRPr lang="en-US" sz="1500" kern="1200"/>
        </a:p>
        <a:p>
          <a:pPr marL="228600" lvl="2" indent="-114300" algn="l" defTabSz="666750">
            <a:lnSpc>
              <a:spcPct val="90000"/>
            </a:lnSpc>
            <a:spcBef>
              <a:spcPct val="0"/>
            </a:spcBef>
            <a:spcAft>
              <a:spcPct val="20000"/>
            </a:spcAft>
            <a:buChar char="•"/>
          </a:pPr>
          <a:r>
            <a:rPr lang="en-US" sz="1500" b="1" kern="1200"/>
            <a:t>What the judges look for:</a:t>
          </a:r>
          <a:endParaRPr lang="en-US" sz="1500" kern="1200"/>
        </a:p>
        <a:p>
          <a:pPr marL="342900" lvl="3" indent="-114300" algn="l" defTabSz="666750">
            <a:lnSpc>
              <a:spcPct val="90000"/>
            </a:lnSpc>
            <a:spcBef>
              <a:spcPct val="0"/>
            </a:spcBef>
            <a:spcAft>
              <a:spcPct val="20000"/>
            </a:spcAft>
            <a:buChar char="•"/>
          </a:pPr>
          <a:r>
            <a:rPr lang="en-US" sz="1500" b="1" kern="1200"/>
            <a:t>Good: Are all of the  materials listed?</a:t>
          </a:r>
          <a:endParaRPr lang="en-US" sz="1500" kern="1200"/>
        </a:p>
        <a:p>
          <a:pPr marL="342900" lvl="3" indent="-114300" algn="l" defTabSz="666750">
            <a:lnSpc>
              <a:spcPct val="90000"/>
            </a:lnSpc>
            <a:spcBef>
              <a:spcPct val="0"/>
            </a:spcBef>
            <a:spcAft>
              <a:spcPct val="20000"/>
            </a:spcAft>
            <a:buChar char="•"/>
          </a:pPr>
          <a:r>
            <a:rPr lang="en-US" sz="1500" b="1" kern="1200"/>
            <a:t>Excellent: Is there a Bill of Material showing how the materials are related?</a:t>
          </a:r>
          <a:endParaRPr lang="en-US" sz="1500" kern="1200"/>
        </a:p>
      </dsp:txBody>
      <dsp:txXfrm>
        <a:off x="0" y="571855"/>
        <a:ext cx="4929186" cy="2005830"/>
      </dsp:txXfrm>
    </dsp:sp>
    <dsp:sp modelId="{37872601-D638-4809-9BDD-F3BF288C4B45}">
      <dsp:nvSpPr>
        <dsp:cNvPr id="0" name=""/>
        <dsp:cNvSpPr/>
      </dsp:nvSpPr>
      <dsp:spPr>
        <a:xfrm>
          <a:off x="0" y="2577685"/>
          <a:ext cx="4929186" cy="444600"/>
        </a:xfrm>
        <a:prstGeom prst="roundRect">
          <a:avLst/>
        </a:prstGeom>
        <a:solidFill>
          <a:schemeClr val="accent2">
            <a:hueOff val="1907789"/>
            <a:satOff val="-43528"/>
            <a:lumOff val="16079"/>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kern="1200"/>
            <a:t>Accounting/Budget</a:t>
          </a:r>
          <a:endParaRPr lang="en-US" sz="1900" kern="1200"/>
        </a:p>
      </dsp:txBody>
      <dsp:txXfrm>
        <a:off x="21704" y="2599389"/>
        <a:ext cx="4885778" cy="401192"/>
      </dsp:txXfrm>
    </dsp:sp>
    <dsp:sp modelId="{D07FD11C-6FFB-47C9-AC45-B43498554F30}">
      <dsp:nvSpPr>
        <dsp:cNvPr id="0" name=""/>
        <dsp:cNvSpPr/>
      </dsp:nvSpPr>
      <dsp:spPr>
        <a:xfrm>
          <a:off x="0" y="3022285"/>
          <a:ext cx="4929186" cy="24384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50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1" kern="1200"/>
            <a:t>This should be a Listing of all Expenses Incurred.  This can be Tracked during the Project through Purchase Orders, then make a List at the End of the Project to Summarize</a:t>
          </a:r>
          <a:endParaRPr lang="en-US" sz="1500" kern="1200"/>
        </a:p>
        <a:p>
          <a:pPr marL="228600" lvl="2" indent="-114300" algn="l" defTabSz="666750">
            <a:lnSpc>
              <a:spcPct val="90000"/>
            </a:lnSpc>
            <a:spcBef>
              <a:spcPct val="0"/>
            </a:spcBef>
            <a:spcAft>
              <a:spcPct val="20000"/>
            </a:spcAft>
            <a:buChar char="•"/>
          </a:pPr>
          <a:r>
            <a:rPr lang="en-US" sz="1500" b="1" kern="1200"/>
            <a:t>Purchase Orders of All of the Material</a:t>
          </a:r>
          <a:endParaRPr lang="en-US" sz="1500" kern="1200"/>
        </a:p>
        <a:p>
          <a:pPr marL="228600" lvl="2" indent="-114300" algn="l" defTabSz="666750">
            <a:lnSpc>
              <a:spcPct val="90000"/>
            </a:lnSpc>
            <a:spcBef>
              <a:spcPct val="0"/>
            </a:spcBef>
            <a:spcAft>
              <a:spcPct val="20000"/>
            </a:spcAft>
            <a:buChar char="•"/>
          </a:pPr>
          <a:r>
            <a:rPr lang="en-US" sz="1500" b="1" kern="1200"/>
            <a:t>Purchase Orders of T-shirts/Promotional Materials</a:t>
          </a:r>
          <a:endParaRPr lang="en-US" sz="1500" kern="1200"/>
        </a:p>
        <a:p>
          <a:pPr marL="114300" lvl="1" indent="-114300" algn="l" defTabSz="666750">
            <a:lnSpc>
              <a:spcPct val="90000"/>
            </a:lnSpc>
            <a:spcBef>
              <a:spcPct val="0"/>
            </a:spcBef>
            <a:spcAft>
              <a:spcPct val="20000"/>
            </a:spcAft>
            <a:buChar char="•"/>
          </a:pPr>
          <a:r>
            <a:rPr lang="en-US" sz="1500" b="1" kern="1200"/>
            <a:t>What the judges look for:</a:t>
          </a:r>
          <a:endParaRPr lang="en-US" sz="1500" kern="1200"/>
        </a:p>
        <a:p>
          <a:pPr marL="228600" lvl="2" indent="-114300" algn="l" defTabSz="666750">
            <a:lnSpc>
              <a:spcPct val="90000"/>
            </a:lnSpc>
            <a:spcBef>
              <a:spcPct val="0"/>
            </a:spcBef>
            <a:spcAft>
              <a:spcPct val="20000"/>
            </a:spcAft>
            <a:buChar char="•"/>
          </a:pPr>
          <a:r>
            <a:rPr lang="en-US" sz="1500" b="1" kern="1200"/>
            <a:t>Good: Is there a Budget?</a:t>
          </a:r>
          <a:endParaRPr lang="en-US" sz="1500" kern="1200"/>
        </a:p>
        <a:p>
          <a:pPr marL="228600" lvl="2" indent="-114300" algn="l" defTabSz="666750">
            <a:lnSpc>
              <a:spcPct val="90000"/>
            </a:lnSpc>
            <a:spcBef>
              <a:spcPct val="0"/>
            </a:spcBef>
            <a:spcAft>
              <a:spcPct val="20000"/>
            </a:spcAft>
            <a:buChar char="•"/>
          </a:pPr>
          <a:r>
            <a:rPr lang="en-US" sz="1500" b="1" kern="1200"/>
            <a:t>Excellent: Budget that is Clearly Organized and Money Adds up Correctly</a:t>
          </a:r>
          <a:endParaRPr lang="en-US" sz="1500" kern="1200"/>
        </a:p>
      </dsp:txBody>
      <dsp:txXfrm>
        <a:off x="0" y="3022285"/>
        <a:ext cx="4929186" cy="243846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3ABD7C-036D-48CF-8B79-F67070F6BF39}" type="datetimeFigureOut">
              <a:rPr lang="en-US" smtClean="0"/>
              <a:t>11/3/2025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1A997F-DB67-4129-BF94-B6E360DFEA02}" type="slidenum">
              <a:rPr lang="en-US" smtClean="0"/>
              <a:t>‹#›</a:t>
            </a:fld>
            <a:endParaRPr lang="en-US"/>
          </a:p>
        </p:txBody>
      </p:sp>
    </p:spTree>
    <p:extLst>
      <p:ext uri="{BB962C8B-B14F-4D97-AF65-F5344CB8AC3E}">
        <p14:creationId xmlns:p14="http://schemas.microsoft.com/office/powerpoint/2010/main" val="40581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F19AEE-6C1C-4102-A8F1-1451E6E0BF0E}" type="datetime1">
              <a:rPr lang="en-US" smtClean="0"/>
              <a:t>11/3/2025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AE69A6E1-87B6-4888-99CE-AC2AEA6F8539}" type="slidenum">
              <a:rPr lang="en-US" smtClean="0"/>
              <a:t>‹#›</a:t>
            </a:fld>
            <a:endParaRPr lang="en-US"/>
          </a:p>
        </p:txBody>
      </p:sp>
    </p:spTree>
    <p:extLst>
      <p:ext uri="{BB962C8B-B14F-4D97-AF65-F5344CB8AC3E}">
        <p14:creationId xmlns:p14="http://schemas.microsoft.com/office/powerpoint/2010/main" val="21710539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41DB5B0-438E-4E26-A940-45771933A916}"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317788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2EE4E558-24BC-4A5C-ABE2-D48C80181878}" type="datetime1">
              <a:rPr lang="en-US" smtClean="0"/>
              <a:t>11/3/2025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AE69A6E1-87B6-4888-99CE-AC2AEA6F8539}" type="slidenum">
              <a:rPr lang="en-US" smtClean="0"/>
              <a:t>‹#›</a:t>
            </a:fld>
            <a:endParaRPr lang="en-US"/>
          </a:p>
        </p:txBody>
      </p:sp>
    </p:spTree>
    <p:extLst>
      <p:ext uri="{BB962C8B-B14F-4D97-AF65-F5344CB8AC3E}">
        <p14:creationId xmlns:p14="http://schemas.microsoft.com/office/powerpoint/2010/main" val="3003846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35A2F6-264C-4B32-82E5-A4CAA36FC401}" type="datetime1">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2941849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71FF2E1-CF4E-4FD2-9192-BE0D8BE5407E}"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115460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30963E78-1176-48C7-9774-1DB6BBEEE682}" type="datetime1">
              <a:rPr lang="en-US" smtClean="0"/>
              <a:t>11/3/2025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3594755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507FF-0839-41A6-B306-8B2FD4FCDCED}" type="datetime1">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4114182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29F35B63-3A1A-4BA6-BEB0-38461F2C1226}" type="datetime1">
              <a:rPr lang="en-US" smtClean="0"/>
              <a:t>11/3/2025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1608232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EC5D3837-D71A-400C-ABC3-6EC92CE9E3E8}" type="datetime1">
              <a:rPr lang="en-US" smtClean="0"/>
              <a:t>11/3/2025</a:t>
            </a:fld>
            <a:endParaRPr lang="en-US"/>
          </a:p>
        </p:txBody>
      </p:sp>
      <p:sp>
        <p:nvSpPr>
          <p:cNvPr id="10" name="Slide Number Placeholder 9"/>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22255079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9750FC-7535-4FF5-90FE-30209ABFF669}"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13269376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413A38-BDB3-4E69-B7DC-0BF26BC9D225}" type="datetime1">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E69A6E1-87B6-4888-99CE-AC2AEA6F8539}" type="slidenum">
              <a:rPr lang="en-US" smtClean="0"/>
              <a:t>‹#›</a:t>
            </a:fld>
            <a:endParaRPr lang="en-US"/>
          </a:p>
        </p:txBody>
      </p:sp>
    </p:spTree>
    <p:extLst>
      <p:ext uri="{BB962C8B-B14F-4D97-AF65-F5344CB8AC3E}">
        <p14:creationId xmlns:p14="http://schemas.microsoft.com/office/powerpoint/2010/main" val="1629827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a:lstStyle/>
            <a:p>
              <a:endParaRPr lang="en-US"/>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930E46D6-E514-43EC-B57D-6C53B4290105}" type="datetime1">
              <a:rPr lang="en-US" smtClean="0"/>
              <a:t>11/3/2025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AE69A6E1-87B6-4888-99CE-AC2AEA6F8539}" type="slidenum">
              <a:rPr lang="en-US" smtClean="0"/>
              <a:t>‹#›</a:t>
            </a:fld>
            <a:endParaRPr lang="en-US"/>
          </a:p>
        </p:txBody>
      </p:sp>
    </p:spTree>
    <p:extLst>
      <p:ext uri="{BB962C8B-B14F-4D97-AF65-F5344CB8AC3E}">
        <p14:creationId xmlns:p14="http://schemas.microsoft.com/office/powerpoint/2010/main" val="10502377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07/relationships/hdphoto" Target="../media/hdphoto2.wdp"/><Relationship Id="rId7" Type="http://schemas.openxmlformats.org/officeDocument/2006/relationships/diagramQuickStyle" Target="../diagrams/quickStyle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png"/><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13.jpeg"/><Relationship Id="rId5" Type="http://schemas.microsoft.com/office/2007/relationships/hdphoto" Target="../media/hdphoto1.wdp"/><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sz="5400" b="1" dirty="0" err="1"/>
              <a:t>Robobots</a:t>
            </a:r>
            <a:r>
              <a:rPr lang="en-US" sz="5400" b="1" dirty="0"/>
              <a:t> documentation Training</a:t>
            </a:r>
          </a:p>
        </p:txBody>
      </p:sp>
      <p:sp>
        <p:nvSpPr>
          <p:cNvPr id="3" name="Content Placeholder 2"/>
          <p:cNvSpPr>
            <a:spLocks noGrp="1"/>
          </p:cNvSpPr>
          <p:nvPr>
            <p:ph type="subTitle" idx="1"/>
          </p:nvPr>
        </p:nvSpPr>
        <p:spPr/>
        <p:txBody>
          <a:bodyPr/>
          <a:lstStyle/>
          <a:p>
            <a:r>
              <a:rPr lang="en-US" b="1" dirty="0"/>
              <a:t>2026 Competition</a:t>
            </a:r>
          </a:p>
        </p:txBody>
      </p:sp>
      <p:sp>
        <p:nvSpPr>
          <p:cNvPr id="4" name="Slide Number Placeholder 3">
            <a:extLst>
              <a:ext uri="{FF2B5EF4-FFF2-40B4-BE49-F238E27FC236}">
                <a16:creationId xmlns:a16="http://schemas.microsoft.com/office/drawing/2014/main" id="{F9942899-82C4-E7A6-3971-20FEB5B97FF6}"/>
              </a:ext>
            </a:extLst>
          </p:cNvPr>
          <p:cNvSpPr>
            <a:spLocks noGrp="1"/>
          </p:cNvSpPr>
          <p:nvPr>
            <p:ph type="sldNum" sz="quarter" idx="12"/>
          </p:nvPr>
        </p:nvSpPr>
        <p:spPr/>
        <p:txBody>
          <a:bodyPr/>
          <a:lstStyle/>
          <a:p>
            <a:fld id="{AE69A6E1-87B6-4888-99CE-AC2AEA6F8539}" type="slidenum">
              <a:rPr lang="en-US" smtClean="0"/>
              <a:t>1</a:t>
            </a:fld>
            <a:endParaRPr lang="en-US"/>
          </a:p>
        </p:txBody>
      </p:sp>
    </p:spTree>
    <p:extLst>
      <p:ext uri="{BB962C8B-B14F-4D97-AF65-F5344CB8AC3E}">
        <p14:creationId xmlns:p14="http://schemas.microsoft.com/office/powerpoint/2010/main" val="3709034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240B56E4-373D-4EC3-816C-0EAC1C8680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28" name="Oval 27">
              <a:extLst>
                <a:ext uri="{FF2B5EF4-FFF2-40B4-BE49-F238E27FC236}">
                  <a16:creationId xmlns:a16="http://schemas.microsoft.com/office/drawing/2014/main" id="{1E90CEEA-DB88-4D63-9114-2E1FFD157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9" name="Oval 28">
              <a:extLst>
                <a:ext uri="{FF2B5EF4-FFF2-40B4-BE49-F238E27FC236}">
                  <a16:creationId xmlns:a16="http://schemas.microsoft.com/office/drawing/2014/main" id="{D2A175AA-4B16-4687-A52A-897C3A13F9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pic>
        <p:nvPicPr>
          <p:cNvPr id="5" name="Content Placeholder 4">
            <a:extLst>
              <a:ext uri="{FF2B5EF4-FFF2-40B4-BE49-F238E27FC236}">
                <a16:creationId xmlns:a16="http://schemas.microsoft.com/office/drawing/2014/main" id="{9990925A-6990-6E1F-6A9F-86524B7B56C2}"/>
              </a:ext>
            </a:extLst>
          </p:cNvPr>
          <p:cNvPicPr>
            <a:picLocks noGrp="1" noChangeAspect="1"/>
          </p:cNvPicPr>
          <p:nvPr>
            <p:ph sz="half" idx="2"/>
          </p:nvPr>
        </p:nvPicPr>
        <p:blipFill>
          <a:blip r:embed="rId4"/>
          <a:srcRect r="-1" b="231"/>
          <a:stretch>
            <a:fillRect/>
          </a:stretch>
        </p:blipFill>
        <p:spPr>
          <a:xfrm>
            <a:off x="2508" y="3509433"/>
            <a:ext cx="3356362" cy="3348566"/>
          </a:xfrm>
          <a:prstGeom prst="rect">
            <a:avLst/>
          </a:prstGeom>
        </p:spPr>
      </p:pic>
      <p:sp>
        <p:nvSpPr>
          <p:cNvPr id="31" name="Rectangle 30">
            <a:extLst>
              <a:ext uri="{FF2B5EF4-FFF2-40B4-BE49-F238E27FC236}">
                <a16:creationId xmlns:a16="http://schemas.microsoft.com/office/drawing/2014/main" id="{881BB01C-2DAE-48BD-8E81-DAE2E1BC4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7552" y="0"/>
            <a:ext cx="5656448" cy="6857999"/>
          </a:xfrm>
          <a:prstGeom prst="rect">
            <a:avLst/>
          </a:prstGeom>
          <a:blipFill dpi="0" rotWithShape="1">
            <a:blip r:embed="rId5">
              <a:alphaModFix amt="60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727581" y="484632"/>
            <a:ext cx="5047708" cy="1609344"/>
          </a:xfrm>
          <a:ln>
            <a:noFill/>
          </a:ln>
        </p:spPr>
        <p:txBody>
          <a:bodyPr vert="horz" lIns="91440" tIns="45720" rIns="91440" bIns="45720" rtlCol="0" anchor="ctr">
            <a:normAutofit/>
          </a:bodyPr>
          <a:lstStyle/>
          <a:p>
            <a:r>
              <a:rPr lang="en-US" b="1"/>
              <a:t>Keys to Success</a:t>
            </a:r>
          </a:p>
        </p:txBody>
      </p:sp>
      <p:pic>
        <p:nvPicPr>
          <p:cNvPr id="7" name="Picture 6">
            <a:extLst>
              <a:ext uri="{FF2B5EF4-FFF2-40B4-BE49-F238E27FC236}">
                <a16:creationId xmlns:a16="http://schemas.microsoft.com/office/drawing/2014/main" id="{6F444CCA-2C0E-E98F-07BF-C7AEE1E6A4B2}"/>
              </a:ext>
            </a:extLst>
          </p:cNvPr>
          <p:cNvPicPr>
            <a:picLocks noChangeAspect="1"/>
          </p:cNvPicPr>
          <p:nvPr/>
        </p:nvPicPr>
        <p:blipFill>
          <a:blip r:embed="rId7"/>
          <a:srcRect l="42412" r="13534" b="2"/>
          <a:stretch>
            <a:fillRect/>
          </a:stretch>
        </p:blipFill>
        <p:spPr>
          <a:xfrm>
            <a:off x="2508" y="10"/>
            <a:ext cx="3356362" cy="3348557"/>
          </a:xfrm>
          <a:prstGeom prst="rect">
            <a:avLst/>
          </a:prstGeom>
        </p:spPr>
      </p:pic>
      <p:sp>
        <p:nvSpPr>
          <p:cNvPr id="3" name="Content Placeholder 2"/>
          <p:cNvSpPr>
            <a:spLocks noGrp="1"/>
          </p:cNvSpPr>
          <p:nvPr>
            <p:ph sz="half" idx="1"/>
          </p:nvPr>
        </p:nvSpPr>
        <p:spPr>
          <a:xfrm>
            <a:off x="3727581" y="2121408"/>
            <a:ext cx="5047707" cy="4050792"/>
          </a:xfrm>
        </p:spPr>
        <p:txBody>
          <a:bodyPr vert="horz" lIns="91440" tIns="45720" rIns="91440" bIns="45720" rtlCol="0">
            <a:normAutofit/>
          </a:bodyPr>
          <a:lstStyle/>
          <a:p>
            <a:r>
              <a:rPr lang="en-US" sz="1600" b="1"/>
              <a:t>Follow Instructions - Read the Rubrics</a:t>
            </a:r>
          </a:p>
          <a:p>
            <a:r>
              <a:rPr lang="en-US" sz="1600" b="1"/>
              <a:t>Use the Guidelines Posted in Your Google Drive Folder</a:t>
            </a:r>
          </a:p>
          <a:p>
            <a:r>
              <a:rPr lang="en-US" sz="1600" b="1"/>
              <a:t>Post Your Materials in a Timely Manner</a:t>
            </a:r>
          </a:p>
          <a:p>
            <a:r>
              <a:rPr lang="en-US" sz="1600" b="1"/>
              <a:t>Document EVERYTHING - Minutes, Decision-making Matrices, Timelines, Project Plans and Evidence (Include Photos)</a:t>
            </a:r>
          </a:p>
          <a:p>
            <a:r>
              <a:rPr lang="en-US" sz="1600" b="1"/>
              <a:t>Have Someone Else Review Your Documentation</a:t>
            </a:r>
          </a:p>
          <a:p>
            <a:pPr lvl="1"/>
            <a:r>
              <a:rPr lang="en-US" sz="1600" b="1"/>
              <a:t>Does is make sense?</a:t>
            </a:r>
          </a:p>
          <a:p>
            <a:pPr lvl="1"/>
            <a:r>
              <a:rPr lang="en-US" sz="1600" b="1"/>
              <a:t>Are there mistakes you didn’t catch?</a:t>
            </a:r>
          </a:p>
          <a:p>
            <a:pPr lvl="1"/>
            <a:r>
              <a:rPr lang="en-US" sz="1600" b="1"/>
              <a:t>How would they score it using the rubric?</a:t>
            </a:r>
          </a:p>
        </p:txBody>
      </p:sp>
      <p:grpSp>
        <p:nvGrpSpPr>
          <p:cNvPr id="33" name="Group 32">
            <a:extLst>
              <a:ext uri="{FF2B5EF4-FFF2-40B4-BE49-F238E27FC236}">
                <a16:creationId xmlns:a16="http://schemas.microsoft.com/office/drawing/2014/main" id="{AD55FF18-1979-4730-A345-E74E328F077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34" name="Oval 33">
              <a:extLst>
                <a:ext uri="{FF2B5EF4-FFF2-40B4-BE49-F238E27FC236}">
                  <a16:creationId xmlns:a16="http://schemas.microsoft.com/office/drawing/2014/main" id="{6F8381C4-0751-4A6E-BFF7-48DF67BFA0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5" name="Oval 34">
              <a:extLst>
                <a:ext uri="{FF2B5EF4-FFF2-40B4-BE49-F238E27FC236}">
                  <a16:creationId xmlns:a16="http://schemas.microsoft.com/office/drawing/2014/main" id="{F7320C1D-D7A9-4392-B3B6-ACEF193A8D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a:extLst>
              <a:ext uri="{FF2B5EF4-FFF2-40B4-BE49-F238E27FC236}">
                <a16:creationId xmlns:a16="http://schemas.microsoft.com/office/drawing/2014/main" id="{34577167-0645-80EC-6AFB-D08F0F2E0E8C}"/>
              </a:ext>
            </a:extLst>
          </p:cNvPr>
          <p:cNvSpPr>
            <a:spLocks noGrp="1"/>
          </p:cNvSpPr>
          <p:nvPr>
            <p:ph type="sldNum" sz="quarter" idx="12"/>
          </p:nvPr>
        </p:nvSpPr>
        <p:spPr>
          <a:xfrm>
            <a:off x="8483346" y="6272784"/>
            <a:ext cx="480060" cy="365125"/>
          </a:xfrm>
        </p:spPr>
        <p:txBody>
          <a:bodyPr vert="horz" lIns="91440" tIns="45720" rIns="91440" bIns="45720" rtlCol="0" anchor="ctr">
            <a:normAutofit/>
          </a:bodyPr>
          <a:lstStyle/>
          <a:p>
            <a:pPr>
              <a:spcAft>
                <a:spcPts val="600"/>
              </a:spcAft>
            </a:pPr>
            <a:fld id="{AE69A6E1-87B6-4888-99CE-AC2AEA6F8539}" type="slidenum">
              <a:rPr lang="en-US" sz="1400" smtClean="0">
                <a:latin typeface="+mj-lt"/>
              </a:rPr>
              <a:pPr>
                <a:spcAft>
                  <a:spcPts val="600"/>
                </a:spcAft>
              </a:pPr>
              <a:t>2</a:t>
            </a:fld>
            <a:endParaRPr lang="en-US" sz="1400">
              <a:latin typeface="+mj-lt"/>
            </a:endParaRPr>
          </a:p>
        </p:txBody>
      </p:sp>
    </p:spTree>
    <p:extLst>
      <p:ext uri="{BB962C8B-B14F-4D97-AF65-F5344CB8AC3E}">
        <p14:creationId xmlns:p14="http://schemas.microsoft.com/office/powerpoint/2010/main" val="140290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8955"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6710" y="484632"/>
            <a:ext cx="5057883" cy="1609344"/>
          </a:xfrm>
        </p:spPr>
        <p:txBody>
          <a:bodyPr vert="horz" lIns="91440" tIns="45720" rIns="91440" bIns="45720" rtlCol="0">
            <a:normAutofit/>
          </a:bodyPr>
          <a:lstStyle/>
          <a:p>
            <a:r>
              <a:rPr lang="en-US" b="1"/>
              <a:t>The Google Drive</a:t>
            </a:r>
          </a:p>
        </p:txBody>
      </p:sp>
      <p:sp>
        <p:nvSpPr>
          <p:cNvPr id="3" name="Content Placeholder 2"/>
          <p:cNvSpPr>
            <a:spLocks noGrp="1"/>
          </p:cNvSpPr>
          <p:nvPr>
            <p:ph idx="1"/>
          </p:nvPr>
        </p:nvSpPr>
        <p:spPr>
          <a:xfrm>
            <a:off x="286709" y="2121408"/>
            <a:ext cx="5057884" cy="4050792"/>
          </a:xfrm>
        </p:spPr>
        <p:txBody>
          <a:bodyPr vert="horz" lIns="91440" tIns="45720" rIns="91440" bIns="45720" rtlCol="0">
            <a:noAutofit/>
          </a:bodyPr>
          <a:lstStyle/>
          <a:p>
            <a:r>
              <a:rPr lang="en-US" sz="2800" b="1" dirty="0"/>
              <a:t>Includes rubrics for both the documentation and the interview. Please review to these-this is how you will be scored.</a:t>
            </a:r>
          </a:p>
          <a:p>
            <a:r>
              <a:rPr lang="en-US" sz="2800" b="1" dirty="0"/>
              <a:t>This is also where you will submit your documentation- PLEASE NOTE- there is no requirement to provide a physical binder.</a:t>
            </a:r>
          </a:p>
        </p:txBody>
      </p:sp>
      <p:pic>
        <p:nvPicPr>
          <p:cNvPr id="8" name="Graphic 7" descr="Document">
            <a:extLst>
              <a:ext uri="{FF2B5EF4-FFF2-40B4-BE49-F238E27FC236}">
                <a16:creationId xmlns:a16="http://schemas.microsoft.com/office/drawing/2014/main" id="{C55FE909-BA9E-83C2-F619-1C815C2926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52595" y="2016874"/>
            <a:ext cx="2526882" cy="2526882"/>
          </a:xfrm>
          <a:prstGeom prst="rect">
            <a:avLst/>
          </a:prstGeom>
        </p:spPr>
      </p:pic>
      <p:grpSp>
        <p:nvGrpSpPr>
          <p:cNvPr id="13" name="Group 12">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4" name="Oval 13">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6868CC4C-FEC6-AC90-C3B9-22535C07766C}"/>
              </a:ext>
            </a:extLst>
          </p:cNvPr>
          <p:cNvSpPr>
            <a:spLocks noGrp="1"/>
          </p:cNvSpPr>
          <p:nvPr>
            <p:ph type="sldNum" sz="quarter" idx="12"/>
          </p:nvPr>
        </p:nvSpPr>
        <p:spPr>
          <a:xfrm>
            <a:off x="8483346" y="6272784"/>
            <a:ext cx="480060" cy="365125"/>
          </a:xfrm>
        </p:spPr>
        <p:txBody>
          <a:bodyPr vert="horz" lIns="91440" tIns="45720" rIns="91440" bIns="45720" rtlCol="0">
            <a:normAutofit/>
          </a:bodyPr>
          <a:lstStyle/>
          <a:p>
            <a:pPr>
              <a:spcAft>
                <a:spcPts val="600"/>
              </a:spcAft>
            </a:pPr>
            <a:fld id="{AE69A6E1-87B6-4888-99CE-AC2AEA6F8539}" type="slidenum">
              <a:rPr lang="en-US" smtClean="0">
                <a:latin typeface="+mj-lt"/>
              </a:rPr>
              <a:pPr>
                <a:spcAft>
                  <a:spcPts val="600"/>
                </a:spcAft>
              </a:pPr>
              <a:t>3</a:t>
            </a:fld>
            <a:endParaRPr lang="en-US">
              <a:latin typeface="+mj-lt"/>
            </a:endParaRPr>
          </a:p>
        </p:txBody>
      </p:sp>
    </p:spTree>
    <p:extLst>
      <p:ext uri="{BB962C8B-B14F-4D97-AF65-F5344CB8AC3E}">
        <p14:creationId xmlns:p14="http://schemas.microsoft.com/office/powerpoint/2010/main" val="387511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b="1"/>
              <a:t>Doing Well in the Interview</a:t>
            </a:r>
          </a:p>
        </p:txBody>
      </p:sp>
      <p:sp>
        <p:nvSpPr>
          <p:cNvPr id="3" name="Content Placeholder 2"/>
          <p:cNvSpPr>
            <a:spLocks noGrp="1"/>
          </p:cNvSpPr>
          <p:nvPr>
            <p:ph idx="1"/>
          </p:nvPr>
        </p:nvSpPr>
        <p:spPr>
          <a:xfrm>
            <a:off x="802386" y="2320412"/>
            <a:ext cx="7543800" cy="3851787"/>
          </a:xfrm>
        </p:spPr>
        <p:txBody>
          <a:bodyPr>
            <a:normAutofit/>
          </a:bodyPr>
          <a:lstStyle/>
          <a:p>
            <a:r>
              <a:rPr lang="en-US" b="1" dirty="0"/>
              <a:t>Entire Team is Expected to Participate</a:t>
            </a:r>
          </a:p>
          <a:p>
            <a:r>
              <a:rPr lang="en-US" b="1" dirty="0"/>
              <a:t>Make a Good First Impression</a:t>
            </a:r>
          </a:p>
          <a:p>
            <a:r>
              <a:rPr lang="en-US" b="1" dirty="0"/>
              <a:t>You Know the Questions in Advance; be Prepared to Answer Them</a:t>
            </a:r>
          </a:p>
          <a:p>
            <a:r>
              <a:rPr lang="en-US" b="1" dirty="0"/>
              <a:t>You can Bring in Additional Materials, but You may not get to  Share Them</a:t>
            </a:r>
          </a:p>
          <a:p>
            <a:r>
              <a:rPr lang="en-US" b="1" dirty="0"/>
              <a:t>You will be Interviewed by a Team of 2-3 Judges for Approximately 15 Minutes</a:t>
            </a:r>
          </a:p>
          <a:p>
            <a:r>
              <a:rPr lang="en-US" b="1" dirty="0"/>
              <a:t>The Top Three Teams from Friday will be Invited back </a:t>
            </a:r>
            <a:r>
              <a:rPr lang="en-US" b="1" u="sng" dirty="0"/>
              <a:t>BEFORE</a:t>
            </a:r>
            <a:r>
              <a:rPr lang="en-US" b="1" dirty="0"/>
              <a:t> the Competition Begins Saturday Morning</a:t>
            </a:r>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5054751C-E0E4-5C11-C706-C7CDF781D244}"/>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4</a:t>
            </a:fld>
            <a:endParaRPr lang="en-US"/>
          </a:p>
        </p:txBody>
      </p:sp>
    </p:spTree>
    <p:extLst>
      <p:ext uri="{BB962C8B-B14F-4D97-AF65-F5344CB8AC3E}">
        <p14:creationId xmlns:p14="http://schemas.microsoft.com/office/powerpoint/2010/main" val="3872006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8035907-EB9C-4E11-8A9B-D25B0AD8D7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Subtitle 2"/>
          <p:cNvSpPr>
            <a:spLocks noGrp="1"/>
          </p:cNvSpPr>
          <p:nvPr>
            <p:ph type="subTitle" idx="1"/>
          </p:nvPr>
        </p:nvSpPr>
        <p:spPr>
          <a:xfrm>
            <a:off x="5953143" y="2064730"/>
            <a:ext cx="2207029" cy="2728536"/>
          </a:xfrm>
        </p:spPr>
        <p:txBody>
          <a:bodyPr anchor="ctr">
            <a:normAutofit/>
          </a:bodyPr>
          <a:lstStyle/>
          <a:p>
            <a:r>
              <a:rPr lang="en-US" sz="2400" b="1">
                <a:solidFill>
                  <a:schemeClr val="tx2"/>
                </a:solidFill>
              </a:rPr>
              <a:t>Don’t Make it Difficult for the Judges!!!</a:t>
            </a:r>
          </a:p>
        </p:txBody>
      </p:sp>
      <p:grpSp>
        <p:nvGrpSpPr>
          <p:cNvPr id="11" name="Group 10">
            <a:extLst>
              <a:ext uri="{FF2B5EF4-FFF2-40B4-BE49-F238E27FC236}">
                <a16:creationId xmlns:a16="http://schemas.microsoft.com/office/drawing/2014/main" id="{B4CFDD4A-4FA1-4CD9-90D5-E253C2040B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6113" y="720071"/>
            <a:ext cx="4063401" cy="5417858"/>
            <a:chOff x="1311770" y="720071"/>
            <a:chExt cx="5417868" cy="5417858"/>
          </a:xfrm>
        </p:grpSpPr>
        <p:sp>
          <p:nvSpPr>
            <p:cNvPr id="12" name="Oval 11">
              <a:extLst>
                <a:ext uri="{FF2B5EF4-FFF2-40B4-BE49-F238E27FC236}">
                  <a16:creationId xmlns:a16="http://schemas.microsoft.com/office/drawing/2014/main" id="{4AB5B6FA-7B4F-437A-9C78-144C7DCD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1770" y="720071"/>
              <a:ext cx="5417868" cy="5417858"/>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A4199C21-6AE0-4F6F-AA96-6FFF97BB95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8390" y="1006688"/>
              <a:ext cx="4844628" cy="4844620"/>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288130" y="1316890"/>
            <a:ext cx="3454795" cy="4224216"/>
          </a:xfrm>
        </p:spPr>
        <p:txBody>
          <a:bodyPr>
            <a:normAutofit/>
          </a:bodyPr>
          <a:lstStyle/>
          <a:p>
            <a:pPr algn="ctr"/>
            <a:r>
              <a:rPr lang="en-US" sz="2900" b="1">
                <a:solidFill>
                  <a:srgbClr val="FFFFFF"/>
                </a:solidFill>
              </a:rPr>
              <a:t>Strong Documentation</a:t>
            </a:r>
          </a:p>
        </p:txBody>
      </p:sp>
      <p:sp>
        <p:nvSpPr>
          <p:cNvPr id="15" name="Rectangle 14">
            <a:extLst>
              <a:ext uri="{FF2B5EF4-FFF2-40B4-BE49-F238E27FC236}">
                <a16:creationId xmlns:a16="http://schemas.microsoft.com/office/drawing/2014/main" id="{D9C69FA7-0958-4ED9-A0DF-E87A0C137B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01706" y="3398742"/>
            <a:ext cx="3657600" cy="60512"/>
          </a:xfrm>
          <a:prstGeom prst="rect">
            <a:avLst/>
          </a:prstGeom>
          <a:blipFill dpi="0" rotWithShape="1">
            <a:blip r:embed="rId4">
              <a:alphaModFix amt="85000"/>
              <a:lum bright="70000" contrast="-70000"/>
              <a:extLst>
                <a:ext uri="{BEBA8EAE-BF5A-486C-A8C5-ECC9F3942E4B}">
                  <a14:imgProps xmlns:a14="http://schemas.microsoft.com/office/drawing/2010/main">
                    <a14:imgLayer r:embed="rId5">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0CCFDE54-8369-483F-2910-3E7CC0B84776}"/>
              </a:ext>
            </a:extLst>
          </p:cNvPr>
          <p:cNvSpPr>
            <a:spLocks noGrp="1"/>
          </p:cNvSpPr>
          <p:nvPr>
            <p:ph type="sldNum" sz="quarter" idx="12"/>
          </p:nvPr>
        </p:nvSpPr>
        <p:spPr>
          <a:xfrm>
            <a:off x="8483252" y="6215530"/>
            <a:ext cx="535487" cy="479632"/>
          </a:xfrm>
        </p:spPr>
        <p:txBody>
          <a:bodyPr>
            <a:normAutofit/>
          </a:bodyPr>
          <a:lstStyle/>
          <a:p>
            <a:pPr algn="l">
              <a:lnSpc>
                <a:spcPct val="90000"/>
              </a:lnSpc>
              <a:spcAft>
                <a:spcPts val="600"/>
              </a:spcAft>
            </a:pPr>
            <a:fld id="{AE69A6E1-87B6-4888-99CE-AC2AEA6F8539}" type="slidenum">
              <a:rPr lang="en-US">
                <a:solidFill>
                  <a:schemeClr val="accent1"/>
                </a:solidFill>
              </a:rPr>
              <a:pPr algn="l">
                <a:lnSpc>
                  <a:spcPct val="90000"/>
                </a:lnSpc>
                <a:spcAft>
                  <a:spcPts val="600"/>
                </a:spcAft>
              </a:pPr>
              <a:t>5</a:t>
            </a:fld>
            <a:endParaRPr lang="en-US">
              <a:solidFill>
                <a:schemeClr val="accent1"/>
              </a:solidFill>
            </a:endParaRPr>
          </a:p>
        </p:txBody>
      </p:sp>
    </p:spTree>
    <p:extLst>
      <p:ext uri="{BB962C8B-B14F-4D97-AF65-F5344CB8AC3E}">
        <p14:creationId xmlns:p14="http://schemas.microsoft.com/office/powerpoint/2010/main" val="284606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par>
                                <p:cTn id="8" presetID="10" presetClass="entr" presetSubtype="0" fill="hold" grpId="0" nodeType="withEffect">
                                  <p:stCondLst>
                                    <p:cond delay="500"/>
                                  </p:stCondLst>
                                  <p:iterate>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DA90C30-B990-4CCA-B584-40F864DA3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8955"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6710" y="484632"/>
            <a:ext cx="5057883" cy="1609344"/>
          </a:xfrm>
        </p:spPr>
        <p:txBody>
          <a:bodyPr>
            <a:normAutofit/>
          </a:bodyPr>
          <a:lstStyle/>
          <a:p>
            <a:r>
              <a:rPr lang="en-US" b="1"/>
              <a:t>Team Procedures</a:t>
            </a:r>
          </a:p>
        </p:txBody>
      </p:sp>
      <p:sp>
        <p:nvSpPr>
          <p:cNvPr id="3" name="Content Placeholder 2"/>
          <p:cNvSpPr>
            <a:spLocks noGrp="1"/>
          </p:cNvSpPr>
          <p:nvPr>
            <p:ph idx="1"/>
          </p:nvPr>
        </p:nvSpPr>
        <p:spPr>
          <a:xfrm>
            <a:off x="286709" y="2121408"/>
            <a:ext cx="5057884" cy="4050792"/>
          </a:xfrm>
        </p:spPr>
        <p:txBody>
          <a:bodyPr>
            <a:normAutofit/>
          </a:bodyPr>
          <a:lstStyle/>
          <a:p>
            <a:pPr marL="0" indent="0">
              <a:buNone/>
            </a:pPr>
            <a:r>
              <a:rPr lang="en-US" sz="1500" b="1"/>
              <a:t>Documentation Review by Judges</a:t>
            </a:r>
          </a:p>
          <a:p>
            <a:pPr marL="461963" lvl="1" indent="-173038"/>
            <a:r>
              <a:rPr lang="en-US" sz="1500" b="1"/>
              <a:t>This is how You Keep All of the Information and Materials Collected Throughout the Project Together in a Way that’s Easy to Access and Refer Back to</a:t>
            </a:r>
          </a:p>
          <a:p>
            <a:pPr marL="1031875" lvl="2" indent="-342900">
              <a:buFont typeface="Wingdings" panose="05000000000000000000" pitchFamily="2" charset="2"/>
              <a:buChar char="Ø"/>
            </a:pPr>
            <a:r>
              <a:rPr lang="en-US" sz="1500" b="1"/>
              <a:t>Is it Easy to Find Items in Your Documentation?</a:t>
            </a:r>
          </a:p>
          <a:p>
            <a:pPr marL="1031875" lvl="2" indent="-342900">
              <a:buFont typeface="Wingdings" panose="05000000000000000000" pitchFamily="2" charset="2"/>
              <a:buChar char="Ø"/>
            </a:pPr>
            <a:r>
              <a:rPr lang="en-US" sz="1500" b="1"/>
              <a:t>Is it Organized to be Functional for the Needs of the Project?</a:t>
            </a:r>
          </a:p>
          <a:p>
            <a:pPr marL="515938" lvl="1" indent="-227013">
              <a:spcBef>
                <a:spcPts val="0"/>
              </a:spcBef>
              <a:spcAft>
                <a:spcPts val="0"/>
              </a:spcAft>
              <a:buFont typeface="Wingdings" panose="05000000000000000000" pitchFamily="2" charset="2"/>
              <a:buChar char="v"/>
            </a:pPr>
            <a:endParaRPr lang="en-US" sz="1500" b="1"/>
          </a:p>
          <a:p>
            <a:pPr marL="515938" lvl="1" indent="-227013">
              <a:buClr>
                <a:srgbClr val="00682F"/>
              </a:buClr>
              <a:buFont typeface="Wingdings" panose="05000000000000000000" pitchFamily="2" charset="2"/>
              <a:buChar char="v"/>
            </a:pPr>
            <a:r>
              <a:rPr lang="en-US" sz="1500" b="1"/>
              <a:t>What the judges look for:</a:t>
            </a:r>
          </a:p>
          <a:p>
            <a:pPr marL="687388" lvl="2" indent="-225425">
              <a:buClr>
                <a:srgbClr val="00682F"/>
              </a:buClr>
              <a:buFont typeface="Wingdings" panose="05000000000000000000" pitchFamily="2" charset="2"/>
              <a:buChar char="ü"/>
            </a:pPr>
            <a:r>
              <a:rPr lang="en-US" sz="1500" b="1"/>
              <a:t>Good: Is the documentation organized and easy to follow?</a:t>
            </a:r>
          </a:p>
          <a:p>
            <a:pPr marL="687388" lvl="2" indent="-225425">
              <a:buClr>
                <a:srgbClr val="00682F"/>
              </a:buClr>
              <a:buFont typeface="Wingdings" panose="05000000000000000000" pitchFamily="2" charset="2"/>
              <a:buChar char="ü"/>
            </a:pPr>
            <a:r>
              <a:rPr lang="en-US" sz="1500" b="1"/>
              <a:t>Excellent: Does the documentation follow the rubric exactly? Is it easy for the judge to find each section?</a:t>
            </a:r>
          </a:p>
          <a:p>
            <a:endParaRPr lang="en-US" sz="1500" b="1"/>
          </a:p>
          <a:p>
            <a:endParaRPr lang="en-US" sz="1500" b="1"/>
          </a:p>
        </p:txBody>
      </p:sp>
      <p:pic>
        <p:nvPicPr>
          <p:cNvPr id="8" name="Graphic 7" descr="Issue">
            <a:extLst>
              <a:ext uri="{FF2B5EF4-FFF2-40B4-BE49-F238E27FC236}">
                <a16:creationId xmlns:a16="http://schemas.microsoft.com/office/drawing/2014/main" id="{7E1978B3-9C99-CC7A-853E-FA1F88FA8D6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152595" y="2016874"/>
            <a:ext cx="2526882" cy="2526882"/>
          </a:xfrm>
          <a:prstGeom prst="rect">
            <a:avLst/>
          </a:prstGeom>
        </p:spPr>
      </p:pic>
      <p:grpSp>
        <p:nvGrpSpPr>
          <p:cNvPr id="13" name="Group 12">
            <a:extLst>
              <a:ext uri="{FF2B5EF4-FFF2-40B4-BE49-F238E27FC236}">
                <a16:creationId xmlns:a16="http://schemas.microsoft.com/office/drawing/2014/main" id="{D060B936-2771-48DC-842C-14EE9318E3E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4" name="Oval 13">
              <a:extLst>
                <a:ext uri="{FF2B5EF4-FFF2-40B4-BE49-F238E27FC236}">
                  <a16:creationId xmlns:a16="http://schemas.microsoft.com/office/drawing/2014/main" id="{DB4EC8B4-4BB2-45C2-A68A-28E36AC10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6">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1431D296-F8F1-41C3-A211-E83E243C51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BB6C822D-ED38-DEC3-E973-E97B59B487A5}"/>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6</a:t>
            </a:fld>
            <a:endParaRPr lang="en-US"/>
          </a:p>
        </p:txBody>
      </p:sp>
    </p:spTree>
    <p:extLst>
      <p:ext uri="{BB962C8B-B14F-4D97-AF65-F5344CB8AC3E}">
        <p14:creationId xmlns:p14="http://schemas.microsoft.com/office/powerpoint/2010/main" val="2315119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5" name="Title 4"/>
          <p:cNvSpPr>
            <a:spLocks noGrp="1"/>
          </p:cNvSpPr>
          <p:nvPr>
            <p:ph type="title"/>
          </p:nvPr>
        </p:nvSpPr>
        <p:spPr>
          <a:xfrm>
            <a:off x="482601" y="643466"/>
            <a:ext cx="2764734" cy="5528734"/>
          </a:xfrm>
        </p:spPr>
        <p:txBody>
          <a:bodyPr>
            <a:normAutofit/>
          </a:bodyPr>
          <a:lstStyle/>
          <a:p>
            <a:pPr algn="r"/>
            <a:r>
              <a:rPr lang="en-US" sz="1700" b="1" dirty="0">
                <a:solidFill>
                  <a:srgbClr val="FFFFFF"/>
                </a:solidFill>
              </a:rPr>
              <a:t>Design Motivation/Strategy</a:t>
            </a:r>
          </a:p>
        </p:txBody>
      </p:sp>
      <p:sp>
        <p:nvSpPr>
          <p:cNvPr id="7" name="Content Placeholder 6"/>
          <p:cNvSpPr>
            <a:spLocks noGrp="1"/>
          </p:cNvSpPr>
          <p:nvPr>
            <p:ph idx="1"/>
          </p:nvPr>
        </p:nvSpPr>
        <p:spPr>
          <a:xfrm>
            <a:off x="3790335" y="599768"/>
            <a:ext cx="4555850" cy="5572432"/>
          </a:xfrm>
          <a:prstGeom prst="rect">
            <a:avLst/>
          </a:prstGeom>
        </p:spPr>
        <p:txBody>
          <a:bodyPr anchor="ctr">
            <a:normAutofit/>
          </a:bodyPr>
          <a:lstStyle/>
          <a:p>
            <a:pPr marL="0" lvl="0" indent="0">
              <a:buNone/>
            </a:pPr>
            <a:r>
              <a:rPr lang="en-US" sz="1800" b="1" dirty="0"/>
              <a:t>Influences</a:t>
            </a:r>
          </a:p>
          <a:p>
            <a:pPr lvl="1"/>
            <a:r>
              <a:rPr lang="en-US" b="1" dirty="0"/>
              <a:t>If the Team had a Bot the Previous Year:</a:t>
            </a:r>
          </a:p>
          <a:p>
            <a:pPr lvl="2">
              <a:buFont typeface="Wingdings" panose="05000000000000000000" pitchFamily="2" charset="2"/>
              <a:buChar char="Ø"/>
            </a:pPr>
            <a:r>
              <a:rPr lang="en-US" sz="1800" b="1" dirty="0"/>
              <a:t>What was Good about the Bot?</a:t>
            </a:r>
          </a:p>
          <a:p>
            <a:pPr lvl="2">
              <a:buFont typeface="Wingdings" panose="05000000000000000000" pitchFamily="2" charset="2"/>
              <a:buChar char="Ø"/>
            </a:pPr>
            <a:r>
              <a:rPr lang="en-US" sz="1800" b="1" dirty="0"/>
              <a:t>What should be Changed in the Future? </a:t>
            </a:r>
          </a:p>
          <a:p>
            <a:pPr lvl="1"/>
            <a:r>
              <a:rPr lang="en-US" b="1" dirty="0"/>
              <a:t>Research Other </a:t>
            </a:r>
            <a:r>
              <a:rPr lang="en-US" b="1" dirty="0" err="1"/>
              <a:t>Robobot</a:t>
            </a:r>
            <a:r>
              <a:rPr lang="en-US" b="1" dirty="0"/>
              <a:t>/Battle Bot Competitions and the Different Kinds of Bots that Won and Lost to Come Up with Ideas</a:t>
            </a:r>
          </a:p>
          <a:p>
            <a:pPr marL="515938" lvl="1" indent="-241300">
              <a:spcBef>
                <a:spcPts val="0"/>
              </a:spcBef>
              <a:spcAft>
                <a:spcPts val="0"/>
              </a:spcAft>
              <a:buFont typeface="Wingdings" panose="05000000000000000000" pitchFamily="2" charset="2"/>
              <a:buChar char="v"/>
            </a:pPr>
            <a:endParaRPr lang="en-US" b="1" dirty="0"/>
          </a:p>
          <a:p>
            <a:pPr marL="515938" lvl="1" indent="-241300">
              <a:buClr>
                <a:srgbClr val="00682F"/>
              </a:buClr>
              <a:buFont typeface="Wingdings" panose="05000000000000000000" pitchFamily="2" charset="2"/>
              <a:buChar char="v"/>
            </a:pPr>
            <a:r>
              <a:rPr lang="en-US" b="1" dirty="0"/>
              <a:t>What the judges look for:</a:t>
            </a:r>
          </a:p>
          <a:p>
            <a:pPr lvl="2">
              <a:buClr>
                <a:srgbClr val="00682F"/>
              </a:buClr>
              <a:buFont typeface="Wingdings" panose="05000000000000000000" pitchFamily="2" charset="2"/>
              <a:buChar char="ü"/>
            </a:pPr>
            <a:r>
              <a:rPr lang="en-US" sz="1800" b="1" dirty="0"/>
              <a:t>Good: Did the team do research on bots prior to deciding on a design?</a:t>
            </a:r>
          </a:p>
          <a:p>
            <a:pPr marL="730250" lvl="2" indent="-182563">
              <a:buClr>
                <a:srgbClr val="00682F"/>
              </a:buClr>
              <a:buFont typeface="Wingdings" panose="05000000000000000000" pitchFamily="2" charset="2"/>
              <a:buChar char="ü"/>
            </a:pPr>
            <a:r>
              <a:rPr lang="en-US" sz="1800" b="1" dirty="0"/>
              <a:t>Excellent: Does the team show understanding of what has worked in the past and how that affects the design?</a:t>
            </a:r>
          </a:p>
        </p:txBody>
      </p:sp>
      <p:sp>
        <p:nvSpPr>
          <p:cNvPr id="16" name="Oval 15">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2" name="Slide Number Placeholder 1">
            <a:extLst>
              <a:ext uri="{FF2B5EF4-FFF2-40B4-BE49-F238E27FC236}">
                <a16:creationId xmlns:a16="http://schemas.microsoft.com/office/drawing/2014/main" id="{D801653F-9822-EE86-FBCF-72894D784344}"/>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7</a:t>
            </a:fld>
            <a:endParaRPr lang="en-US"/>
          </a:p>
        </p:txBody>
      </p:sp>
    </p:spTree>
    <p:extLst>
      <p:ext uri="{BB962C8B-B14F-4D97-AF65-F5344CB8AC3E}">
        <p14:creationId xmlns:p14="http://schemas.microsoft.com/office/powerpoint/2010/main" val="3262161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8BA95-03E7-41B7-B442-0AF8C0A7FF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p:cNvSpPr>
            <a:spLocks noGrp="1"/>
          </p:cNvSpPr>
          <p:nvPr>
            <p:ph idx="1"/>
          </p:nvPr>
        </p:nvSpPr>
        <p:spPr>
          <a:xfrm>
            <a:off x="180594" y="521579"/>
            <a:ext cx="4985937" cy="6333108"/>
          </a:xfrm>
        </p:spPr>
        <p:txBody>
          <a:bodyPr anchor="ctr">
            <a:normAutofit/>
          </a:bodyPr>
          <a:lstStyle/>
          <a:p>
            <a:pPr marL="0" indent="0">
              <a:buNone/>
            </a:pPr>
            <a:endParaRPr lang="en-US" sz="1600" b="1" dirty="0">
              <a:solidFill>
                <a:srgbClr val="FF0000"/>
              </a:solidFill>
            </a:endParaRPr>
          </a:p>
          <a:p>
            <a:pPr lvl="1"/>
            <a:r>
              <a:rPr lang="en-US" sz="1600" b="1" dirty="0"/>
              <a:t>Every Meeting Held by the Team should have Meeting Minutes:  </a:t>
            </a:r>
          </a:p>
          <a:p>
            <a:pPr lvl="2">
              <a:buFont typeface="Wingdings" panose="05000000000000000000" pitchFamily="2" charset="2"/>
              <a:buChar char="Ø"/>
            </a:pPr>
            <a:r>
              <a:rPr lang="en-US" b="1" dirty="0"/>
              <a:t>Topics Discussed</a:t>
            </a:r>
          </a:p>
          <a:p>
            <a:pPr lvl="2">
              <a:buFont typeface="Wingdings" panose="05000000000000000000" pitchFamily="2" charset="2"/>
              <a:buChar char="Ø"/>
            </a:pPr>
            <a:r>
              <a:rPr lang="en-US" b="1" dirty="0"/>
              <a:t>Team Members in Attendance</a:t>
            </a:r>
          </a:p>
          <a:p>
            <a:pPr lvl="2">
              <a:buFont typeface="Wingdings" panose="05000000000000000000" pitchFamily="2" charset="2"/>
              <a:buChar char="Ø"/>
            </a:pPr>
            <a:r>
              <a:rPr lang="en-US" b="1" dirty="0"/>
              <a:t>Date of Meeting</a:t>
            </a:r>
          </a:p>
          <a:p>
            <a:pPr lvl="2">
              <a:buFont typeface="Wingdings" panose="05000000000000000000" pitchFamily="2" charset="2"/>
              <a:buChar char="Ø"/>
            </a:pPr>
            <a:r>
              <a:rPr lang="en-US" b="1" dirty="0"/>
              <a:t>Any Decisions Made at the Meeting</a:t>
            </a:r>
          </a:p>
          <a:p>
            <a:pPr lvl="2">
              <a:buFont typeface="Wingdings" panose="05000000000000000000" pitchFamily="2" charset="2"/>
              <a:buChar char="Ø"/>
            </a:pPr>
            <a:r>
              <a:rPr lang="en-US" b="1" dirty="0"/>
              <a:t>Any Actions from the Previous Meeting Plus New Actions from this Meeting (This should be an Ongoing List with Assignees and Estimated Completion Dates)</a:t>
            </a:r>
          </a:p>
          <a:p>
            <a:pPr lvl="1"/>
            <a:r>
              <a:rPr lang="en-US" sz="1600" b="1" dirty="0"/>
              <a:t>Role Management</a:t>
            </a:r>
          </a:p>
          <a:p>
            <a:pPr lvl="2">
              <a:buFont typeface="Wingdings" panose="05000000000000000000" pitchFamily="2" charset="2"/>
              <a:buChar char="Ø"/>
            </a:pPr>
            <a:r>
              <a:rPr lang="en-US" b="1" dirty="0"/>
              <a:t>How did the Team Assign the Roles?</a:t>
            </a:r>
          </a:p>
          <a:p>
            <a:pPr marL="515938" lvl="1" indent="-241300">
              <a:spcBef>
                <a:spcPts val="0"/>
              </a:spcBef>
              <a:spcAft>
                <a:spcPts val="0"/>
              </a:spcAft>
              <a:buFont typeface="Wingdings" panose="05000000000000000000" pitchFamily="2" charset="2"/>
              <a:buChar char="v"/>
            </a:pPr>
            <a:endParaRPr lang="en-US" sz="1600" b="1" dirty="0"/>
          </a:p>
          <a:p>
            <a:pPr marL="515938" lvl="1" indent="-241300">
              <a:buClr>
                <a:srgbClr val="00682F"/>
              </a:buClr>
              <a:buFont typeface="Wingdings" panose="05000000000000000000" pitchFamily="2" charset="2"/>
              <a:buChar char="v"/>
            </a:pPr>
            <a:r>
              <a:rPr lang="en-US" sz="1600" b="1" dirty="0"/>
              <a:t>What the judges look for:</a:t>
            </a:r>
          </a:p>
          <a:p>
            <a:pPr lvl="2">
              <a:buClr>
                <a:srgbClr val="00682F"/>
              </a:buClr>
              <a:buFont typeface="Wingdings" panose="05000000000000000000" pitchFamily="2" charset="2"/>
              <a:buChar char="ü"/>
            </a:pPr>
            <a:r>
              <a:rPr lang="en-US" b="1" dirty="0"/>
              <a:t>Good: Are there meeting minutes (See example on next page)</a:t>
            </a:r>
          </a:p>
          <a:p>
            <a:pPr lvl="2">
              <a:buClr>
                <a:srgbClr val="00682F"/>
              </a:buClr>
              <a:buFont typeface="Wingdings" panose="05000000000000000000" pitchFamily="2" charset="2"/>
              <a:buChar char="ü"/>
            </a:pPr>
            <a:r>
              <a:rPr lang="en-US" b="1" dirty="0"/>
              <a:t>Excellent: Are the meeting minutes organized and functional to help the team get the work done? Did the team choose roles in a strategic way (</a:t>
            </a:r>
            <a:r>
              <a:rPr lang="en-US" b="1" i="1" dirty="0"/>
              <a:t>i.e.</a:t>
            </a:r>
            <a:r>
              <a:rPr lang="en-US" b="1" dirty="0"/>
              <a:t>, using the team member skill sets) or was it random?</a:t>
            </a:r>
          </a:p>
          <a:p>
            <a:pPr lvl="1"/>
            <a:endParaRPr lang="en-US" sz="1400" b="1" dirty="0"/>
          </a:p>
          <a:p>
            <a:pPr marL="0" indent="0">
              <a:buNone/>
            </a:pPr>
            <a:endParaRPr lang="en-US" sz="1400" b="1" dirty="0"/>
          </a:p>
        </p:txBody>
      </p:sp>
      <p:sp>
        <p:nvSpPr>
          <p:cNvPr id="11" name="Rectangle 10">
            <a:extLst>
              <a:ext uri="{FF2B5EF4-FFF2-40B4-BE49-F238E27FC236}">
                <a16:creationId xmlns:a16="http://schemas.microsoft.com/office/drawing/2014/main" id="{AD9B3EAD-A2B3-42C4-927C-3455E3E69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33037" y="3398744"/>
            <a:ext cx="3657600" cy="60512"/>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3" name="Group 12">
            <a:extLst>
              <a:ext uri="{FF2B5EF4-FFF2-40B4-BE49-F238E27FC236}">
                <a16:creationId xmlns:a16="http://schemas.microsoft.com/office/drawing/2014/main" id="{4BF9B298-BC35-4C0F-8301-5D63A1E6D28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957144" y="1679571"/>
            <a:ext cx="2624148" cy="3498858"/>
            <a:chOff x="7942859" y="1679571"/>
            <a:chExt cx="3498864" cy="3498858"/>
          </a:xfrm>
        </p:grpSpPr>
        <p:sp>
          <p:nvSpPr>
            <p:cNvPr id="14" name="Oval 13">
              <a:extLst>
                <a:ext uri="{FF2B5EF4-FFF2-40B4-BE49-F238E27FC236}">
                  <a16:creationId xmlns:a16="http://schemas.microsoft.com/office/drawing/2014/main" id="{059D8741-EAD6-41B1-A882-70D70FC358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42859" y="1679571"/>
              <a:ext cx="3498864" cy="3498858"/>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5" name="Oval 14">
              <a:extLst>
                <a:ext uri="{FF2B5EF4-FFF2-40B4-BE49-F238E27FC236}">
                  <a16:creationId xmlns:a16="http://schemas.microsoft.com/office/drawing/2014/main" id="{45444F36-3103-4D11-A25F-C054D4606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27958" y="1864667"/>
              <a:ext cx="3128666" cy="312866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a:xfrm>
            <a:off x="6278976" y="2376862"/>
            <a:ext cx="1980484" cy="2104273"/>
          </a:xfrm>
          <a:noFill/>
        </p:spPr>
        <p:txBody>
          <a:bodyPr>
            <a:normAutofit/>
          </a:bodyPr>
          <a:lstStyle/>
          <a:p>
            <a:pPr algn="ctr"/>
            <a:r>
              <a:rPr lang="en-US" sz="2000" b="1" dirty="0">
                <a:solidFill>
                  <a:schemeClr val="bg1">
                    <a:shade val="97000"/>
                    <a:satMod val="150000"/>
                  </a:schemeClr>
                </a:solidFill>
              </a:rPr>
              <a:t>Team Procedures</a:t>
            </a:r>
            <a:br>
              <a:rPr lang="en-US" sz="2000" b="1" dirty="0">
                <a:solidFill>
                  <a:schemeClr val="bg1">
                    <a:shade val="97000"/>
                    <a:satMod val="150000"/>
                  </a:schemeClr>
                </a:solidFill>
              </a:rPr>
            </a:br>
            <a:r>
              <a:rPr lang="en-US" sz="1800" b="1" dirty="0">
                <a:solidFill>
                  <a:schemeClr val="bg1">
                    <a:shade val="97000"/>
                    <a:satMod val="150000"/>
                  </a:schemeClr>
                </a:solidFill>
              </a:rPr>
              <a:t>Team Management </a:t>
            </a:r>
          </a:p>
        </p:txBody>
      </p:sp>
      <p:sp>
        <p:nvSpPr>
          <p:cNvPr id="4" name="Slide Number Placeholder 3">
            <a:extLst>
              <a:ext uri="{FF2B5EF4-FFF2-40B4-BE49-F238E27FC236}">
                <a16:creationId xmlns:a16="http://schemas.microsoft.com/office/drawing/2014/main" id="{DFE05C8D-E922-1A76-5299-4717AC178E0F}"/>
              </a:ext>
            </a:extLst>
          </p:cNvPr>
          <p:cNvSpPr>
            <a:spLocks noGrp="1"/>
          </p:cNvSpPr>
          <p:nvPr>
            <p:ph type="sldNum" sz="quarter" idx="12"/>
          </p:nvPr>
        </p:nvSpPr>
        <p:spPr>
          <a:xfrm>
            <a:off x="8483346" y="6272784"/>
            <a:ext cx="480060" cy="365125"/>
          </a:xfrm>
        </p:spPr>
        <p:txBody>
          <a:bodyPr>
            <a:normAutofit/>
          </a:bodyPr>
          <a:lstStyle/>
          <a:p>
            <a:pPr>
              <a:lnSpc>
                <a:spcPct val="90000"/>
              </a:lnSpc>
              <a:spcAft>
                <a:spcPts val="600"/>
              </a:spcAft>
            </a:pPr>
            <a:fld id="{AE69A6E1-87B6-4888-99CE-AC2AEA6F8539}" type="slidenum">
              <a:rPr lang="en-US" sz="1900">
                <a:solidFill>
                  <a:schemeClr val="accent1"/>
                </a:solidFill>
              </a:rPr>
              <a:pPr>
                <a:lnSpc>
                  <a:spcPct val="90000"/>
                </a:lnSpc>
                <a:spcAft>
                  <a:spcPts val="600"/>
                </a:spcAft>
              </a:pPr>
              <a:t>8</a:t>
            </a:fld>
            <a:endParaRPr lang="en-US" sz="1900">
              <a:solidFill>
                <a:schemeClr val="accent1"/>
              </a:solidFill>
            </a:endParaRPr>
          </a:p>
        </p:txBody>
      </p:sp>
    </p:spTree>
    <p:extLst>
      <p:ext uri="{BB962C8B-B14F-4D97-AF65-F5344CB8AC3E}">
        <p14:creationId xmlns:p14="http://schemas.microsoft.com/office/powerpoint/2010/main" val="355318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34694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429969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4068923"/>
            <a:ext cx="810678" cy="1080902"/>
            <a:chOff x="9685338" y="4460675"/>
            <a:chExt cx="1080904" cy="1080902"/>
          </a:xfrm>
        </p:grpSpPr>
        <p:sp>
          <p:nvSpPr>
            <p:cNvPr id="16" name="Oval 15">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7" name="Oval 16">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9" name="Rectangle 18">
            <a:extLst>
              <a:ext uri="{FF2B5EF4-FFF2-40B4-BE49-F238E27FC236}">
                <a16:creationId xmlns:a16="http://schemas.microsoft.com/office/drawing/2014/main" id="{80E61E04-3F7C-42DE-ABE7-D3F7E349C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1714"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Rectangle 20">
            <a:extLst>
              <a:ext uri="{FF2B5EF4-FFF2-40B4-BE49-F238E27FC236}">
                <a16:creationId xmlns:a16="http://schemas.microsoft.com/office/drawing/2014/main" id="{2B036F7E-6C8A-4549-99EF-9958C587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9144000" cy="2610465"/>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txBox="1">
            <a:spLocks/>
          </p:cNvSpPr>
          <p:nvPr/>
        </p:nvSpPr>
        <p:spPr>
          <a:xfrm>
            <a:off x="788670" y="4355692"/>
            <a:ext cx="6814455" cy="1472224"/>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Aft>
                <a:spcPts val="600"/>
              </a:spcAft>
            </a:pPr>
            <a:r>
              <a:rPr lang="en-US" sz="3100" b="1" cap="all">
                <a:blipFill dpi="0" rotWithShape="1">
                  <a:blip r:embed="rId4"/>
                  <a:srcRect/>
                  <a:tile tx="6350" ty="-127000" sx="65000" sy="64000" flip="none" algn="tl"/>
                </a:blipFill>
              </a:rPr>
              <a:t>TEAM PROCEDURES</a:t>
            </a:r>
          </a:p>
          <a:p>
            <a:pPr algn="l">
              <a:lnSpc>
                <a:spcPct val="80000"/>
              </a:lnSpc>
              <a:spcAft>
                <a:spcPts val="600"/>
              </a:spcAft>
            </a:pPr>
            <a:r>
              <a:rPr lang="en-US" sz="3100" b="1" cap="all">
                <a:blipFill dpi="0" rotWithShape="1">
                  <a:blip r:embed="rId4"/>
                  <a:srcRect/>
                  <a:tile tx="6350" ty="-127000" sx="65000" sy="64000" flip="none" algn="tl"/>
                </a:blipFill>
              </a:rPr>
              <a:t>Team Management Example</a:t>
            </a:r>
          </a:p>
        </p:txBody>
      </p:sp>
      <p:grpSp>
        <p:nvGrpSpPr>
          <p:cNvPr id="23" name="Group 22">
            <a:extLst>
              <a:ext uri="{FF2B5EF4-FFF2-40B4-BE49-F238E27FC236}">
                <a16:creationId xmlns:a16="http://schemas.microsoft.com/office/drawing/2014/main" id="{75EE15D0-BDD3-4CA6-B5DC-159D83FA6B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4192" y="5111496"/>
            <a:ext cx="810678" cy="1080902"/>
            <a:chOff x="9685338" y="4460675"/>
            <a:chExt cx="1080904" cy="1080902"/>
          </a:xfrm>
        </p:grpSpPr>
        <p:sp>
          <p:nvSpPr>
            <p:cNvPr id="24" name="Oval 23">
              <a:extLst>
                <a:ext uri="{FF2B5EF4-FFF2-40B4-BE49-F238E27FC236}">
                  <a16:creationId xmlns:a16="http://schemas.microsoft.com/office/drawing/2014/main" id="{C1D99473-F547-41EE-8D8B-3DFA6E58D0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5" name="Oval 24">
              <a:extLst>
                <a:ext uri="{FF2B5EF4-FFF2-40B4-BE49-F238E27FC236}">
                  <a16:creationId xmlns:a16="http://schemas.microsoft.com/office/drawing/2014/main" id="{71482930-66A8-46E9-8554-6D127FFCF1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C1B4E4C8-18A3-E1F6-C9CE-B10C4C3FEDB3}"/>
              </a:ext>
            </a:extLst>
          </p:cNvPr>
          <p:cNvSpPr>
            <a:spLocks noGrp="1"/>
          </p:cNvSpPr>
          <p:nvPr>
            <p:ph type="sldNum" sz="quarter" idx="12"/>
          </p:nvPr>
        </p:nvSpPr>
        <p:spPr>
          <a:xfrm>
            <a:off x="7643919" y="5331907"/>
            <a:ext cx="895401" cy="640080"/>
          </a:xfrm>
        </p:spPr>
        <p:txBody>
          <a:bodyPr vert="horz" lIns="91440" tIns="45720" rIns="91440" bIns="45720" rtlCol="0" anchor="ctr">
            <a:normAutofit/>
          </a:bodyPr>
          <a:lstStyle/>
          <a:p>
            <a:pPr>
              <a:spcAft>
                <a:spcPts val="600"/>
              </a:spcAft>
            </a:pPr>
            <a:endParaRPr lang="en-US" sz="2800" dirty="0">
              <a:latin typeface="+mj-lt"/>
            </a:endParaRPr>
          </a:p>
        </p:txBody>
      </p:sp>
      <p:graphicFrame>
        <p:nvGraphicFramePr>
          <p:cNvPr id="2" name="Table 1"/>
          <p:cNvGraphicFramePr>
            <a:graphicFrameLocks noGrp="1"/>
          </p:cNvGraphicFramePr>
          <p:nvPr>
            <p:extLst>
              <p:ext uri="{D42A27DB-BD31-4B8C-83A1-F6EECF244321}">
                <p14:modId xmlns:p14="http://schemas.microsoft.com/office/powerpoint/2010/main" val="1851471217"/>
              </p:ext>
            </p:extLst>
          </p:nvPr>
        </p:nvGraphicFramePr>
        <p:xfrm>
          <a:off x="476592" y="809237"/>
          <a:ext cx="8187350" cy="2978175"/>
        </p:xfrm>
        <a:graphic>
          <a:graphicData uri="http://schemas.openxmlformats.org/drawingml/2006/table">
            <a:tbl>
              <a:tblPr firstRow="1" bandRow="1">
                <a:solidFill>
                  <a:schemeClr val="tx1">
                    <a:lumMod val="75000"/>
                    <a:lumOff val="25000"/>
                  </a:schemeClr>
                </a:solidFill>
                <a:tableStyleId>{5C22544A-7EE6-4342-B048-85BDC9FD1C3A}</a:tableStyleId>
              </a:tblPr>
              <a:tblGrid>
                <a:gridCol w="1250439">
                  <a:extLst>
                    <a:ext uri="{9D8B030D-6E8A-4147-A177-3AD203B41FA5}">
                      <a16:colId xmlns:a16="http://schemas.microsoft.com/office/drawing/2014/main" val="20000"/>
                    </a:ext>
                  </a:extLst>
                </a:gridCol>
                <a:gridCol w="1640780">
                  <a:extLst>
                    <a:ext uri="{9D8B030D-6E8A-4147-A177-3AD203B41FA5}">
                      <a16:colId xmlns:a16="http://schemas.microsoft.com/office/drawing/2014/main" val="20001"/>
                    </a:ext>
                  </a:extLst>
                </a:gridCol>
                <a:gridCol w="2251876">
                  <a:extLst>
                    <a:ext uri="{9D8B030D-6E8A-4147-A177-3AD203B41FA5}">
                      <a16:colId xmlns:a16="http://schemas.microsoft.com/office/drawing/2014/main" val="20002"/>
                    </a:ext>
                  </a:extLst>
                </a:gridCol>
                <a:gridCol w="3044255">
                  <a:extLst>
                    <a:ext uri="{9D8B030D-6E8A-4147-A177-3AD203B41FA5}">
                      <a16:colId xmlns:a16="http://schemas.microsoft.com/office/drawing/2014/main" val="20003"/>
                    </a:ext>
                  </a:extLst>
                </a:gridCol>
              </a:tblGrid>
              <a:tr h="401394">
                <a:tc gridSpan="4">
                  <a:txBody>
                    <a:bodyPr/>
                    <a:lstStyle/>
                    <a:p>
                      <a:pPr algn="ctr" fontAlgn="b"/>
                      <a:r>
                        <a:rPr lang="en-US" sz="1500" b="1" u="none" strike="noStrike" cap="none" spc="0">
                          <a:solidFill>
                            <a:schemeClr val="bg1"/>
                          </a:solidFill>
                          <a:effectLst/>
                        </a:rPr>
                        <a:t>Meeting Minute Template</a:t>
                      </a:r>
                      <a:endParaRPr lang="en-US" sz="1500" b="1" i="0" u="none" strike="noStrike" cap="none" spc="0">
                        <a:solidFill>
                          <a:schemeClr val="bg1"/>
                        </a:solidFill>
                        <a:effectLst/>
                        <a:latin typeface="Calibri"/>
                      </a:endParaRPr>
                    </a:p>
                  </a:txBody>
                  <a:tcPr marL="58946" marR="7017" marT="16842" marB="126313" anchor="b">
                    <a:lnL w="12700" cmpd="sng">
                      <a:noFill/>
                    </a:lnL>
                    <a:lnR w="12700" cmpd="sng">
                      <a:noFill/>
                    </a:lnR>
                    <a:lnT w="9525" cap="flat" cmpd="sng" algn="ctr">
                      <a:noFill/>
                      <a:prstDash val="solid"/>
                    </a:lnT>
                    <a:lnB w="38100" cmpd="sng">
                      <a:noFill/>
                    </a:lnB>
                    <a:solidFill>
                      <a:schemeClr val="tx1">
                        <a:lumMod val="75000"/>
                        <a:lumOff val="25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45255">
                <a:tc>
                  <a:txBody>
                    <a:bodyPr/>
                    <a:lstStyle/>
                    <a:p>
                      <a:pPr algn="l" fontAlgn="b"/>
                      <a:r>
                        <a:rPr lang="en-US" sz="1100" u="none" strike="noStrike" cap="none" spc="0">
                          <a:solidFill>
                            <a:schemeClr val="bg1"/>
                          </a:solidFill>
                          <a:effectLst/>
                        </a:rPr>
                        <a:t>Attendees: </a:t>
                      </a:r>
                      <a:endParaRPr lang="en-US" sz="1100" b="0" i="0" u="none" strike="noStrike" cap="none" spc="0">
                        <a:solidFill>
                          <a:schemeClr val="bg1"/>
                        </a:solidFill>
                        <a:effectLst/>
                        <a:latin typeface="Calibri"/>
                      </a:endParaRPr>
                    </a:p>
                  </a:txBody>
                  <a:tcPr marL="58946" marR="7017" marT="16842" marB="126313" anchor="b">
                    <a:lnL w="12700" cap="flat" cmpd="sng" algn="ctr">
                      <a:solidFill>
                        <a:schemeClr val="bg1"/>
                      </a:solid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gridSpan="3">
                  <a:txBody>
                    <a:bodyPr/>
                    <a:lstStyle/>
                    <a:p>
                      <a:pPr algn="ctr" fontAlgn="b"/>
                      <a:r>
                        <a:rPr lang="en-US" sz="1100" u="none" strike="noStrike" cap="none" spc="0">
                          <a:solidFill>
                            <a:schemeClr val="bg1"/>
                          </a:solidFill>
                          <a:effectLst/>
                        </a:rPr>
                        <a:t> </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45255">
                <a:tc>
                  <a:txBody>
                    <a:bodyPr/>
                    <a:lstStyle/>
                    <a:p>
                      <a:pPr algn="l" fontAlgn="b"/>
                      <a:r>
                        <a:rPr lang="en-US" sz="1100" u="none" strike="noStrike" cap="none" spc="0">
                          <a:solidFill>
                            <a:schemeClr val="bg1"/>
                          </a:solidFill>
                          <a:effectLst/>
                        </a:rPr>
                        <a:t>Date of Meeting:</a:t>
                      </a:r>
                      <a:endParaRPr lang="en-US" sz="1100" b="0" i="0" u="none" strike="noStrike" cap="none" spc="0">
                        <a:solidFill>
                          <a:schemeClr val="bg1"/>
                        </a:solidFill>
                        <a:effectLst/>
                        <a:latin typeface="Calibri"/>
                      </a:endParaRPr>
                    </a:p>
                  </a:txBody>
                  <a:tcPr marL="58946" marR="7017" marT="16842" marB="126313" anchor="b">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gridSpan="3">
                  <a:txBody>
                    <a:bodyPr/>
                    <a:lstStyle/>
                    <a:p>
                      <a:pPr algn="ctr" fontAlgn="b"/>
                      <a:r>
                        <a:rPr lang="en-US" sz="1100" u="none" strike="noStrike" cap="none" spc="0">
                          <a:solidFill>
                            <a:schemeClr val="bg1"/>
                          </a:solidFill>
                          <a:effectLst/>
                        </a:rPr>
                        <a:t> </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9525" cap="flat" cmpd="sng" algn="ctr">
                      <a:noFill/>
                      <a:prstDash val="solid"/>
                    </a:lnT>
                    <a:lnB w="12700" cmpd="sng">
                      <a:noFill/>
                      <a:prstDash val="solid"/>
                    </a:lnB>
                    <a:solidFill>
                      <a:srgbClr val="59595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45255">
                <a:tc>
                  <a:txBody>
                    <a:bodyPr/>
                    <a:lstStyle/>
                    <a:p>
                      <a:pPr algn="l" fontAlgn="b"/>
                      <a:r>
                        <a:rPr lang="en-US" sz="1100" u="none" strike="noStrike" cap="none" spc="0">
                          <a:solidFill>
                            <a:schemeClr val="bg1"/>
                          </a:solidFill>
                          <a:effectLst/>
                        </a:rPr>
                        <a:t>Decisions made:</a:t>
                      </a:r>
                      <a:endParaRPr lang="en-US" sz="1100" b="0" i="0" u="none" strike="noStrike" cap="none" spc="0">
                        <a:solidFill>
                          <a:schemeClr val="bg1"/>
                        </a:solidFill>
                        <a:effectLst/>
                        <a:latin typeface="Calibri"/>
                      </a:endParaRPr>
                    </a:p>
                  </a:txBody>
                  <a:tcPr marL="58946" marR="7017" marT="16842" marB="126313" anchor="b">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gridSpan="3">
                  <a:txBody>
                    <a:bodyPr/>
                    <a:lstStyle/>
                    <a:p>
                      <a:pPr algn="ctr" fontAlgn="b"/>
                      <a:r>
                        <a:rPr lang="en-US" sz="1100" u="none" strike="noStrike" cap="none" spc="0">
                          <a:solidFill>
                            <a:schemeClr val="bg1"/>
                          </a:solidFill>
                          <a:effectLst/>
                        </a:rPr>
                        <a:t>Any decisions about the bot or otherwise should be noted.  </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345255">
                <a:tc>
                  <a:txBody>
                    <a:bodyPr/>
                    <a:lstStyle/>
                    <a:p>
                      <a:pPr algn="l" fontAlgn="b"/>
                      <a:r>
                        <a:rPr lang="en-US" sz="1100" u="none" strike="noStrike" cap="none" spc="0">
                          <a:solidFill>
                            <a:schemeClr val="bg1"/>
                          </a:solidFill>
                          <a:effectLst/>
                        </a:rPr>
                        <a:t>Topics Covered:</a:t>
                      </a:r>
                      <a:endParaRPr lang="en-US" sz="1100" b="0" i="0" u="none" strike="noStrike" cap="none" spc="0">
                        <a:solidFill>
                          <a:schemeClr val="bg1"/>
                        </a:solidFill>
                        <a:effectLst/>
                        <a:latin typeface="Calibri"/>
                      </a:endParaRPr>
                    </a:p>
                  </a:txBody>
                  <a:tcPr marL="58946" marR="7017" marT="16842" marB="126313" anchor="b">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gridSpan="3">
                  <a:txBody>
                    <a:bodyPr/>
                    <a:lstStyle/>
                    <a:p>
                      <a:pPr algn="ctr" fontAlgn="b"/>
                      <a:r>
                        <a:rPr lang="en-US" sz="1100" u="none" strike="noStrike" cap="none" spc="0">
                          <a:solidFill>
                            <a:schemeClr val="bg1"/>
                          </a:solidFill>
                          <a:effectLst/>
                        </a:rPr>
                        <a:t>What was done that meeting? i.e. worked on documentation, build rails for bot, tested bot (summarize test), </a:t>
                      </a:r>
                      <a:r>
                        <a:rPr lang="en-US" sz="1100" u="none" strike="noStrike" cap="none" spc="0" err="1">
                          <a:solidFill>
                            <a:schemeClr val="bg1"/>
                          </a:solidFill>
                          <a:effectLst/>
                        </a:rPr>
                        <a:t>etc</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9525" cap="flat" cmpd="sng" algn="ctr">
                      <a:noFill/>
                      <a:prstDash val="solid"/>
                    </a:lnT>
                    <a:lnB w="12700" cmpd="sng">
                      <a:noFill/>
                      <a:prstDash val="solid"/>
                    </a:lnB>
                    <a:solidFill>
                      <a:srgbClr val="595959"/>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45255">
                <a:tc>
                  <a:txBody>
                    <a:bodyPr/>
                    <a:lstStyle/>
                    <a:p>
                      <a:pPr algn="l" fontAlgn="b"/>
                      <a:r>
                        <a:rPr lang="en-US" sz="1100" u="none" strike="noStrike" cap="none" spc="0">
                          <a:solidFill>
                            <a:schemeClr val="bg1"/>
                          </a:solidFill>
                          <a:effectLst/>
                        </a:rPr>
                        <a:t>Action</a:t>
                      </a:r>
                      <a:endParaRPr lang="en-US" sz="1100" b="0" i="0" u="none" strike="noStrike" cap="none" spc="0">
                        <a:solidFill>
                          <a:schemeClr val="bg1"/>
                        </a:solidFill>
                        <a:effectLst/>
                        <a:latin typeface="Calibri"/>
                      </a:endParaRPr>
                    </a:p>
                  </a:txBody>
                  <a:tcPr marL="58946" marR="7017" marT="16842" marB="126313" anchor="b">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algn="l" fontAlgn="b"/>
                      <a:r>
                        <a:rPr lang="en-US" sz="1100" u="none" strike="noStrike" cap="none" spc="0">
                          <a:solidFill>
                            <a:schemeClr val="bg1"/>
                          </a:solidFill>
                          <a:effectLst/>
                        </a:rPr>
                        <a:t>Responsibility</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algn="l" fontAlgn="b"/>
                      <a:r>
                        <a:rPr lang="en-US" sz="1100" u="none" strike="noStrike" cap="none" spc="0">
                          <a:solidFill>
                            <a:schemeClr val="bg1"/>
                          </a:solidFill>
                          <a:effectLst/>
                        </a:rPr>
                        <a:t>Estimated Completion Date</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algn="l" fontAlgn="b"/>
                      <a:r>
                        <a:rPr lang="en-US" sz="1100" u="none" strike="noStrike" cap="none" spc="0">
                          <a:solidFill>
                            <a:schemeClr val="bg1"/>
                          </a:solidFill>
                          <a:effectLst/>
                        </a:rPr>
                        <a:t>Status</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10005"/>
                  </a:ext>
                </a:extLst>
              </a:tr>
              <a:tr h="850506">
                <a:tc>
                  <a:txBody>
                    <a:bodyPr/>
                    <a:lstStyle/>
                    <a:p>
                      <a:pPr algn="l" fontAlgn="b"/>
                      <a:r>
                        <a:rPr lang="en-US" sz="1100" u="none" strike="noStrike" cap="none" spc="0">
                          <a:solidFill>
                            <a:schemeClr val="bg1"/>
                          </a:solidFill>
                          <a:effectLst/>
                        </a:rPr>
                        <a:t>Action to be done</a:t>
                      </a:r>
                      <a:endParaRPr lang="en-US" sz="1100" b="0" i="0" u="none" strike="noStrike" cap="none" spc="0">
                        <a:solidFill>
                          <a:schemeClr val="bg1"/>
                        </a:solidFill>
                        <a:effectLst/>
                        <a:latin typeface="Calibri"/>
                      </a:endParaRPr>
                    </a:p>
                  </a:txBody>
                  <a:tcPr marL="58946" marR="7017" marT="16842" marB="126313" anchor="b">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l" fontAlgn="b"/>
                      <a:r>
                        <a:rPr lang="en-US" sz="1100" u="none" strike="noStrike" cap="none" spc="0">
                          <a:solidFill>
                            <a:schemeClr val="bg1"/>
                          </a:solidFill>
                          <a:effectLst/>
                        </a:rPr>
                        <a:t>Who is the ONE person responsible for the action?</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l" fontAlgn="b"/>
                      <a:r>
                        <a:rPr lang="en-US" sz="1100" u="none" strike="noStrike" cap="none" spc="0">
                          <a:solidFill>
                            <a:schemeClr val="bg1"/>
                          </a:solidFill>
                          <a:effectLst/>
                        </a:rPr>
                        <a:t>When has the responsible person committed to completing the action? Is it early enough for the timeline to remain intact?</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algn="l" fontAlgn="b"/>
                      <a:r>
                        <a:rPr lang="en-US" sz="1100" u="none" strike="noStrike" cap="none" spc="0">
                          <a:solidFill>
                            <a:schemeClr val="bg1"/>
                          </a:solidFill>
                          <a:effectLst/>
                        </a:rPr>
                        <a:t>If the action goes over several meetings, note the date and then the status at that time in this box.  Do not delete previous comments. This gives you history for your documentation</a:t>
                      </a:r>
                      <a:endParaRPr lang="en-US" sz="1100" b="0" i="0" u="none" strike="noStrike" cap="none" spc="0">
                        <a:solidFill>
                          <a:schemeClr val="bg1"/>
                        </a:solidFill>
                        <a:effectLst/>
                        <a:latin typeface="Calibri"/>
                      </a:endParaRPr>
                    </a:p>
                  </a:txBody>
                  <a:tcPr marL="58946" marR="7017" marT="16842" marB="126313" anchor="b">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502899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FB95F-D901-4937-8084-8A7BAA84F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77232" y="0"/>
            <a:ext cx="3266767"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9832" y="639763"/>
            <a:ext cx="2284555" cy="5177377"/>
          </a:xfrm>
          <a:ln>
            <a:noFill/>
          </a:ln>
        </p:spPr>
        <p:txBody>
          <a:bodyPr>
            <a:normAutofit/>
          </a:bodyPr>
          <a:lstStyle/>
          <a:p>
            <a:r>
              <a:rPr lang="en-US" sz="2200" b="1" dirty="0"/>
              <a:t>Team Procedures</a:t>
            </a:r>
            <a:br>
              <a:rPr lang="en-US" sz="2200" b="1" dirty="0"/>
            </a:br>
            <a:br>
              <a:rPr lang="en-US" sz="2200" b="1" dirty="0"/>
            </a:br>
            <a:r>
              <a:rPr lang="en-US" sz="2200" b="1" dirty="0"/>
              <a:t>Material Management</a:t>
            </a:r>
            <a:br>
              <a:rPr lang="en-US" sz="2200" b="1" dirty="0"/>
            </a:br>
            <a:br>
              <a:rPr lang="en-US" sz="2200" b="1" dirty="0"/>
            </a:br>
            <a:r>
              <a:rPr lang="en-US" sz="2200" b="1" dirty="0"/>
              <a:t>Accounting</a:t>
            </a:r>
          </a:p>
        </p:txBody>
      </p:sp>
      <p:grpSp>
        <p:nvGrpSpPr>
          <p:cNvPr id="12" name="Group 11">
            <a:extLst>
              <a:ext uri="{FF2B5EF4-FFF2-40B4-BE49-F238E27FC236}">
                <a16:creationId xmlns:a16="http://schemas.microsoft.com/office/drawing/2014/main" id="{60F473BD-3FD3-4548-A8F5-11D3C9CB88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3" name="Oval 12">
              <a:extLst>
                <a:ext uri="{FF2B5EF4-FFF2-40B4-BE49-F238E27FC236}">
                  <a16:creationId xmlns:a16="http://schemas.microsoft.com/office/drawing/2014/main" id="{691E02ED-3E2E-4396-B6DE-5F93F2F11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a:extLst>
                <a:ext uri="{FF2B5EF4-FFF2-40B4-BE49-F238E27FC236}">
                  <a16:creationId xmlns:a16="http://schemas.microsoft.com/office/drawing/2014/main" id="{28F088F5-B4E7-43B9-88F4-8667026E4B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C5608108-16C2-16A1-3BE1-DE2774B4C720}"/>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10</a:t>
            </a:fld>
            <a:endParaRPr lang="en-US"/>
          </a:p>
        </p:txBody>
      </p:sp>
      <p:graphicFrame>
        <p:nvGraphicFramePr>
          <p:cNvPr id="6" name="Content Placeholder 2">
            <a:extLst>
              <a:ext uri="{FF2B5EF4-FFF2-40B4-BE49-F238E27FC236}">
                <a16:creationId xmlns:a16="http://schemas.microsoft.com/office/drawing/2014/main" id="{D5AE8834-D6CA-5F43-AC21-827209E6B526}"/>
              </a:ext>
            </a:extLst>
          </p:cNvPr>
          <p:cNvGraphicFramePr>
            <a:graphicFrameLocks noGrp="1"/>
          </p:cNvGraphicFramePr>
          <p:nvPr>
            <p:ph idx="1"/>
            <p:extLst>
              <p:ext uri="{D42A27DB-BD31-4B8C-83A1-F6EECF244321}">
                <p14:modId xmlns:p14="http://schemas.microsoft.com/office/powerpoint/2010/main" val="716122136"/>
              </p:ext>
            </p:extLst>
          </p:nvPr>
        </p:nvGraphicFramePr>
        <p:xfrm>
          <a:off x="466725" y="639763"/>
          <a:ext cx="4929187" cy="55880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670658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C06EAFD-0C69-4B3B-BEA7-E7E11DDF9C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4066C89-42FB-4624-9AFE-3A31B3649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3486126" cy="6858000"/>
          </a:xfrm>
          <a:prstGeom prst="rect">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400000"/>
                      </a14:imgEffect>
                      <a14:imgEffect>
                        <a14:brightnessContrast bright="-40000" contrast="40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algn="ctr" defTabSz="914400"/>
            <a:endParaRPr lang="en-US" sz="2000" kern="0">
              <a:solidFill>
                <a:prstClr val="white"/>
              </a:solidFill>
              <a:latin typeface="Rockwell Extra Bold" pitchFamily="18" charset="0"/>
            </a:endParaRPr>
          </a:p>
        </p:txBody>
      </p:sp>
      <p:sp>
        <p:nvSpPr>
          <p:cNvPr id="2" name="Title 1"/>
          <p:cNvSpPr>
            <a:spLocks noGrp="1"/>
          </p:cNvSpPr>
          <p:nvPr>
            <p:ph type="title"/>
          </p:nvPr>
        </p:nvSpPr>
        <p:spPr>
          <a:xfrm>
            <a:off x="482601" y="643466"/>
            <a:ext cx="2764734" cy="5528734"/>
          </a:xfrm>
        </p:spPr>
        <p:txBody>
          <a:bodyPr vert="horz" lIns="91440" tIns="45720" rIns="91440" bIns="45720" rtlCol="0" anchor="ctr">
            <a:normAutofit/>
          </a:bodyPr>
          <a:lstStyle/>
          <a:p>
            <a:pPr algn="r"/>
            <a:r>
              <a:rPr lang="en-US" sz="2600" b="1" dirty="0">
                <a:solidFill>
                  <a:srgbClr val="FFFFFF"/>
                </a:solidFill>
              </a:rPr>
              <a:t>Team Procedures</a:t>
            </a:r>
            <a:br>
              <a:rPr lang="en-US" sz="2600" b="1" dirty="0">
                <a:solidFill>
                  <a:srgbClr val="FFFFFF"/>
                </a:solidFill>
              </a:rPr>
            </a:br>
            <a:br>
              <a:rPr lang="en-US" sz="2600" b="1" dirty="0">
                <a:solidFill>
                  <a:srgbClr val="FFFFFF"/>
                </a:solidFill>
              </a:rPr>
            </a:br>
            <a:r>
              <a:rPr lang="en-US" sz="2600" b="1" dirty="0">
                <a:solidFill>
                  <a:srgbClr val="FFFFFF"/>
                </a:solidFill>
              </a:rPr>
              <a:t>Time Management </a:t>
            </a:r>
          </a:p>
        </p:txBody>
      </p:sp>
      <p:sp>
        <p:nvSpPr>
          <p:cNvPr id="5" name="Rectangle 4"/>
          <p:cNvSpPr/>
          <p:nvPr/>
        </p:nvSpPr>
        <p:spPr>
          <a:xfrm>
            <a:off x="3581400" y="599768"/>
            <a:ext cx="5382005" cy="6182032"/>
          </a:xfrm>
          <a:prstGeom prst="rect">
            <a:avLst/>
          </a:prstGeom>
        </p:spPr>
        <p:txBody>
          <a:bodyPr vert="horz" lIns="91440" tIns="45720" rIns="91440" bIns="45720" rtlCol="0" anchor="ctr">
            <a:normAutofit lnSpcReduction="10000"/>
          </a:bodyPr>
          <a:lstStyle/>
          <a:p>
            <a:pPr indent="-182880">
              <a:lnSpc>
                <a:spcPct val="90000"/>
              </a:lnSpc>
              <a:spcAft>
                <a:spcPts val="600"/>
              </a:spcAft>
              <a:buClr>
                <a:schemeClr val="accent1">
                  <a:lumMod val="75000"/>
                </a:schemeClr>
              </a:buClr>
              <a:buSzPct val="85000"/>
              <a:buFont typeface="Wingdings" pitchFamily="2" charset="2"/>
              <a:buChar char="§"/>
            </a:pPr>
            <a:r>
              <a:rPr lang="en-US" b="1" dirty="0"/>
              <a:t>Time Management</a:t>
            </a:r>
          </a:p>
          <a:p>
            <a:pPr marL="461963" indent="-182880">
              <a:lnSpc>
                <a:spcPct val="90000"/>
              </a:lnSpc>
              <a:spcAft>
                <a:spcPts val="600"/>
              </a:spcAft>
              <a:buClr>
                <a:schemeClr val="accent1">
                  <a:lumMod val="75000"/>
                </a:schemeClr>
              </a:buClr>
              <a:buSzPct val="85000"/>
              <a:buFont typeface="Wingdings" pitchFamily="2" charset="2"/>
              <a:buChar char="§"/>
            </a:pPr>
            <a:r>
              <a:rPr lang="en-US" b="1" dirty="0"/>
              <a:t>A Project Plan is Necessary to Make Sure all Aspects of the Project get Completed in Time</a:t>
            </a:r>
          </a:p>
          <a:p>
            <a:pPr marL="461963" indent="-182880">
              <a:lnSpc>
                <a:spcPct val="90000"/>
              </a:lnSpc>
              <a:spcAft>
                <a:spcPts val="600"/>
              </a:spcAft>
              <a:buClr>
                <a:schemeClr val="accent1">
                  <a:lumMod val="75000"/>
                </a:schemeClr>
              </a:buClr>
              <a:buSzPct val="85000"/>
              <a:buFont typeface="Wingdings" pitchFamily="2" charset="2"/>
              <a:buChar char="§"/>
            </a:pPr>
            <a:r>
              <a:rPr lang="en-US" b="1" dirty="0"/>
              <a:t>MS Excel is a Project Management Tool that can be Used.  Be sure to List all Major Steps that Need to Happen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Order T-shirts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Brainstorm Design of Bot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Finalize Design and do CAD Drawing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Order Parts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Build Bot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Test Bot </a:t>
            </a:r>
          </a:p>
          <a:p>
            <a:pPr marL="800100" lvl="1" indent="-182880">
              <a:lnSpc>
                <a:spcPct val="90000"/>
              </a:lnSpc>
              <a:spcAft>
                <a:spcPts val="600"/>
              </a:spcAft>
              <a:buClr>
                <a:schemeClr val="accent1">
                  <a:lumMod val="75000"/>
                </a:schemeClr>
              </a:buClr>
              <a:buSzPct val="85000"/>
              <a:buFont typeface="Wingdings" pitchFamily="2" charset="2"/>
              <a:buChar char="§"/>
            </a:pPr>
            <a:r>
              <a:rPr lang="en-US" b="1" dirty="0"/>
              <a:t>Complete Documentation  </a:t>
            </a:r>
          </a:p>
          <a:p>
            <a:pPr marL="515938" lvl="1" indent="-182880">
              <a:lnSpc>
                <a:spcPct val="90000"/>
              </a:lnSpc>
              <a:spcAft>
                <a:spcPts val="600"/>
              </a:spcAft>
              <a:buClr>
                <a:schemeClr val="accent1">
                  <a:lumMod val="75000"/>
                </a:schemeClr>
              </a:buClr>
              <a:buSzPct val="85000"/>
              <a:buFont typeface="Wingdings" pitchFamily="2" charset="2"/>
              <a:buChar char="§"/>
            </a:pPr>
            <a:endParaRPr lang="en-US" b="1" dirty="0"/>
          </a:p>
          <a:p>
            <a:pPr marL="515938" lvl="1" indent="-182880">
              <a:lnSpc>
                <a:spcPct val="90000"/>
              </a:lnSpc>
              <a:spcAft>
                <a:spcPts val="600"/>
              </a:spcAft>
              <a:buClr>
                <a:schemeClr val="accent1">
                  <a:lumMod val="75000"/>
                </a:schemeClr>
              </a:buClr>
              <a:buSzPct val="85000"/>
              <a:buFont typeface="Wingdings" pitchFamily="2" charset="2"/>
              <a:buChar char="§"/>
            </a:pPr>
            <a:r>
              <a:rPr lang="en-US" b="1" dirty="0"/>
              <a:t>What the judges look for:</a:t>
            </a:r>
          </a:p>
          <a:p>
            <a:pPr marL="742950" lvl="2" indent="-182880">
              <a:lnSpc>
                <a:spcPct val="90000"/>
              </a:lnSpc>
              <a:spcAft>
                <a:spcPts val="600"/>
              </a:spcAft>
              <a:buClr>
                <a:schemeClr val="accent1">
                  <a:lumMod val="75000"/>
                </a:schemeClr>
              </a:buClr>
              <a:buSzPct val="85000"/>
              <a:buFont typeface="Wingdings" pitchFamily="2" charset="2"/>
              <a:buChar char="§"/>
            </a:pPr>
            <a:r>
              <a:rPr lang="en-US" b="1" dirty="0"/>
              <a:t>Good: Is there a project plan?</a:t>
            </a:r>
          </a:p>
          <a:p>
            <a:pPr marL="742950" lvl="2" indent="-182880">
              <a:lnSpc>
                <a:spcPct val="90000"/>
              </a:lnSpc>
              <a:spcAft>
                <a:spcPts val="600"/>
              </a:spcAft>
              <a:buClr>
                <a:schemeClr val="accent1">
                  <a:lumMod val="75000"/>
                </a:schemeClr>
              </a:buClr>
              <a:buSzPct val="85000"/>
              <a:buFont typeface="Wingdings" pitchFamily="2" charset="2"/>
              <a:buChar char="§"/>
            </a:pPr>
            <a:r>
              <a:rPr lang="en-US" b="1" dirty="0"/>
              <a:t>Excellent: Does the plan list all actions, including responsibility,  comments (any progress or if waiting on another action before it can completed); any indicators that show </a:t>
            </a:r>
            <a:r>
              <a:rPr lang="en-US" sz="1400" b="1" dirty="0"/>
              <a:t>it was used throughout the project</a:t>
            </a:r>
          </a:p>
        </p:txBody>
      </p:sp>
      <p:sp>
        <p:nvSpPr>
          <p:cNvPr id="24" name="Oval 23">
            <a:extLst>
              <a:ext uri="{FF2B5EF4-FFF2-40B4-BE49-F238E27FC236}">
                <a16:creationId xmlns:a16="http://schemas.microsoft.com/office/drawing/2014/main" id="{BA218FBC-B2D6-48CA-9289-C4110162E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5" name="Oval 24">
            <a:extLst>
              <a:ext uri="{FF2B5EF4-FFF2-40B4-BE49-F238E27FC236}">
                <a16:creationId xmlns:a16="http://schemas.microsoft.com/office/drawing/2014/main" id="{2DED9084-49DA-4911-ACB7-5F9E4DEFA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3" name="Slide Number Placeholder 2">
            <a:extLst>
              <a:ext uri="{FF2B5EF4-FFF2-40B4-BE49-F238E27FC236}">
                <a16:creationId xmlns:a16="http://schemas.microsoft.com/office/drawing/2014/main" id="{03B8D9A4-6648-CCAA-FCDA-F184499BDD05}"/>
              </a:ext>
            </a:extLst>
          </p:cNvPr>
          <p:cNvSpPr>
            <a:spLocks noGrp="1"/>
          </p:cNvSpPr>
          <p:nvPr>
            <p:ph type="sldNum" sz="quarter" idx="12"/>
          </p:nvPr>
        </p:nvSpPr>
        <p:spPr>
          <a:xfrm>
            <a:off x="8483346" y="6272784"/>
            <a:ext cx="480060" cy="365125"/>
          </a:xfrm>
        </p:spPr>
        <p:txBody>
          <a:bodyPr vert="horz" lIns="91440" tIns="45720" rIns="91440" bIns="45720" rtlCol="0" anchor="ctr">
            <a:normAutofit/>
          </a:bodyPr>
          <a:lstStyle/>
          <a:p>
            <a:pPr defTabSz="457200">
              <a:spcAft>
                <a:spcPts val="600"/>
              </a:spcAft>
            </a:pPr>
            <a:fld id="{AE69A6E1-87B6-4888-99CE-AC2AEA6F8539}" type="slidenum">
              <a:rPr lang="en-US" sz="1400" b="1" kern="1200" dirty="0">
                <a:solidFill>
                  <a:srgbClr val="FFFFFF"/>
                </a:solidFill>
                <a:latin typeface="+mj-lt"/>
                <a:ea typeface="+mn-ea"/>
                <a:cs typeface="+mn-cs"/>
              </a:rPr>
              <a:pPr defTabSz="457200">
                <a:spcAft>
                  <a:spcPts val="600"/>
                </a:spcAft>
              </a:pPr>
              <a:t>11</a:t>
            </a:fld>
            <a:endParaRPr lang="en-US" sz="1400" b="1" kern="1200" dirty="0">
              <a:solidFill>
                <a:srgbClr val="FFFFFF"/>
              </a:solidFill>
              <a:latin typeface="+mj-lt"/>
              <a:ea typeface="+mn-ea"/>
              <a:cs typeface="+mn-cs"/>
            </a:endParaRPr>
          </a:p>
        </p:txBody>
      </p:sp>
    </p:spTree>
    <p:extLst>
      <p:ext uri="{BB962C8B-B14F-4D97-AF65-F5344CB8AC3E}">
        <p14:creationId xmlns:p14="http://schemas.microsoft.com/office/powerpoint/2010/main" val="2665885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34694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429969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4068923"/>
            <a:ext cx="810678" cy="1080902"/>
            <a:chOff x="9685338" y="4460675"/>
            <a:chExt cx="1080904" cy="1080902"/>
          </a:xfrm>
        </p:grpSpPr>
        <p:sp>
          <p:nvSpPr>
            <p:cNvPr id="16" name="Oval 15">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7" name="Oval 16">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19" name="Rectangle 18">
            <a:extLst>
              <a:ext uri="{FF2B5EF4-FFF2-40B4-BE49-F238E27FC236}">
                <a16:creationId xmlns:a16="http://schemas.microsoft.com/office/drawing/2014/main" id="{80E61E04-3F7C-42DE-ABE7-D3F7E349C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1714" cy="6858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1" name="Rectangle 20">
            <a:extLst>
              <a:ext uri="{FF2B5EF4-FFF2-40B4-BE49-F238E27FC236}">
                <a16:creationId xmlns:a16="http://schemas.microsoft.com/office/drawing/2014/main" id="{2B036F7E-6C8A-4549-99EF-9958C587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57366"/>
            <a:ext cx="9144000" cy="2610465"/>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1"/>
          <p:cNvSpPr txBox="1">
            <a:spLocks/>
          </p:cNvSpPr>
          <p:nvPr/>
        </p:nvSpPr>
        <p:spPr>
          <a:xfrm>
            <a:off x="788670" y="4355692"/>
            <a:ext cx="6814455" cy="1472224"/>
          </a:xfrm>
          <a:prstGeom prst="rect">
            <a:avLst/>
          </a:prstGeom>
        </p:spPr>
        <p:txBody>
          <a:bodyPr vert="horz" lIns="91440" tIns="45720" rIns="91440" bIns="4572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80000"/>
              </a:lnSpc>
              <a:spcAft>
                <a:spcPts val="600"/>
              </a:spcAft>
            </a:pPr>
            <a:r>
              <a:rPr lang="en-US" sz="3100" b="1" cap="all">
                <a:blipFill dpi="0" rotWithShape="1">
                  <a:blip r:embed="rId4"/>
                  <a:srcRect/>
                  <a:tile tx="6350" ty="-127000" sx="65000" sy="64000" flip="none" algn="tl"/>
                </a:blipFill>
              </a:rPr>
              <a:t>Team Procedures</a:t>
            </a:r>
          </a:p>
          <a:p>
            <a:pPr algn="l">
              <a:lnSpc>
                <a:spcPct val="80000"/>
              </a:lnSpc>
              <a:spcAft>
                <a:spcPts val="600"/>
              </a:spcAft>
            </a:pPr>
            <a:r>
              <a:rPr lang="en-US" sz="3100" b="1" cap="all">
                <a:blipFill dpi="0" rotWithShape="1">
                  <a:blip r:embed="rId4"/>
                  <a:srcRect/>
                  <a:tile tx="6350" ty="-127000" sx="65000" sy="64000" flip="none" algn="tl"/>
                </a:blipFill>
              </a:rPr>
              <a:t>Time Management Example</a:t>
            </a:r>
          </a:p>
        </p:txBody>
      </p:sp>
      <p:grpSp>
        <p:nvGrpSpPr>
          <p:cNvPr id="23" name="Group 22">
            <a:extLst>
              <a:ext uri="{FF2B5EF4-FFF2-40B4-BE49-F238E27FC236}">
                <a16:creationId xmlns:a16="http://schemas.microsoft.com/office/drawing/2014/main" id="{75EE15D0-BDD3-4CA6-B5DC-159D83FA6B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4192" y="5111496"/>
            <a:ext cx="810678" cy="1080902"/>
            <a:chOff x="9685338" y="4460675"/>
            <a:chExt cx="1080904" cy="1080902"/>
          </a:xfrm>
        </p:grpSpPr>
        <p:sp>
          <p:nvSpPr>
            <p:cNvPr id="24" name="Oval 23">
              <a:extLst>
                <a:ext uri="{FF2B5EF4-FFF2-40B4-BE49-F238E27FC236}">
                  <a16:creationId xmlns:a16="http://schemas.microsoft.com/office/drawing/2014/main" id="{C1D99473-F547-41EE-8D8B-3DFA6E58D0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5" name="Oval 24">
              <a:extLst>
                <a:ext uri="{FF2B5EF4-FFF2-40B4-BE49-F238E27FC236}">
                  <a16:creationId xmlns:a16="http://schemas.microsoft.com/office/drawing/2014/main" id="{71482930-66A8-46E9-8554-6D127FFCF1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6F70D948-B99A-532A-4F7C-AAA3AC0FBC37}"/>
              </a:ext>
            </a:extLst>
          </p:cNvPr>
          <p:cNvSpPr>
            <a:spLocks noGrp="1"/>
          </p:cNvSpPr>
          <p:nvPr>
            <p:ph type="sldNum" sz="quarter" idx="12"/>
          </p:nvPr>
        </p:nvSpPr>
        <p:spPr>
          <a:xfrm>
            <a:off x="7643919" y="5331907"/>
            <a:ext cx="895401" cy="640080"/>
          </a:xfrm>
        </p:spPr>
        <p:txBody>
          <a:bodyPr vert="horz" lIns="91440" tIns="45720" rIns="91440" bIns="45720" rtlCol="0" anchor="ctr">
            <a:normAutofit/>
          </a:bodyPr>
          <a:lstStyle/>
          <a:p>
            <a:pPr>
              <a:spcAft>
                <a:spcPts val="600"/>
              </a:spcAft>
            </a:pPr>
            <a:fld id="{AE69A6E1-87B6-4888-99CE-AC2AEA6F8539}" type="slidenum">
              <a:rPr lang="en-US" sz="2800" smtClean="0">
                <a:latin typeface="+mj-lt"/>
              </a:rPr>
              <a:pPr>
                <a:spcAft>
                  <a:spcPts val="600"/>
                </a:spcAft>
              </a:pPr>
              <a:t>12</a:t>
            </a:fld>
            <a:endParaRPr lang="en-US" sz="2800">
              <a:latin typeface="+mj-lt"/>
            </a:endParaRPr>
          </a:p>
        </p:txBody>
      </p:sp>
      <p:graphicFrame>
        <p:nvGraphicFramePr>
          <p:cNvPr id="2" name="Table 1"/>
          <p:cNvGraphicFramePr>
            <a:graphicFrameLocks noGrp="1"/>
          </p:cNvGraphicFramePr>
          <p:nvPr>
            <p:extLst>
              <p:ext uri="{D42A27DB-BD31-4B8C-83A1-F6EECF244321}">
                <p14:modId xmlns:p14="http://schemas.microsoft.com/office/powerpoint/2010/main" val="3323181070"/>
              </p:ext>
            </p:extLst>
          </p:nvPr>
        </p:nvGraphicFramePr>
        <p:xfrm>
          <a:off x="476592" y="870821"/>
          <a:ext cx="8187353" cy="2855010"/>
        </p:xfrm>
        <a:graphic>
          <a:graphicData uri="http://schemas.openxmlformats.org/drawingml/2006/table">
            <a:tbl>
              <a:tblPr firstRow="1" bandRow="1">
                <a:noFill/>
                <a:tableStyleId>{5C22544A-7EE6-4342-B048-85BDC9FD1C3A}</a:tableStyleId>
              </a:tblPr>
              <a:tblGrid>
                <a:gridCol w="375858">
                  <a:extLst>
                    <a:ext uri="{9D8B030D-6E8A-4147-A177-3AD203B41FA5}">
                      <a16:colId xmlns:a16="http://schemas.microsoft.com/office/drawing/2014/main" val="20000"/>
                    </a:ext>
                  </a:extLst>
                </a:gridCol>
                <a:gridCol w="545930">
                  <a:extLst>
                    <a:ext uri="{9D8B030D-6E8A-4147-A177-3AD203B41FA5}">
                      <a16:colId xmlns:a16="http://schemas.microsoft.com/office/drawing/2014/main" val="20001"/>
                    </a:ext>
                  </a:extLst>
                </a:gridCol>
                <a:gridCol w="636712">
                  <a:extLst>
                    <a:ext uri="{9D8B030D-6E8A-4147-A177-3AD203B41FA5}">
                      <a16:colId xmlns:a16="http://schemas.microsoft.com/office/drawing/2014/main" val="20002"/>
                    </a:ext>
                  </a:extLst>
                </a:gridCol>
                <a:gridCol w="1901912">
                  <a:extLst>
                    <a:ext uri="{9D8B030D-6E8A-4147-A177-3AD203B41FA5}">
                      <a16:colId xmlns:a16="http://schemas.microsoft.com/office/drawing/2014/main" val="20003"/>
                    </a:ext>
                  </a:extLst>
                </a:gridCol>
                <a:gridCol w="992944">
                  <a:extLst>
                    <a:ext uri="{9D8B030D-6E8A-4147-A177-3AD203B41FA5}">
                      <a16:colId xmlns:a16="http://schemas.microsoft.com/office/drawing/2014/main" val="20004"/>
                    </a:ext>
                  </a:extLst>
                </a:gridCol>
                <a:gridCol w="643607">
                  <a:extLst>
                    <a:ext uri="{9D8B030D-6E8A-4147-A177-3AD203B41FA5}">
                      <a16:colId xmlns:a16="http://schemas.microsoft.com/office/drawing/2014/main" val="20005"/>
                    </a:ext>
                  </a:extLst>
                </a:gridCol>
                <a:gridCol w="434464">
                  <a:extLst>
                    <a:ext uri="{9D8B030D-6E8A-4147-A177-3AD203B41FA5}">
                      <a16:colId xmlns:a16="http://schemas.microsoft.com/office/drawing/2014/main" val="20006"/>
                    </a:ext>
                  </a:extLst>
                </a:gridCol>
                <a:gridCol w="838960">
                  <a:extLst>
                    <a:ext uri="{9D8B030D-6E8A-4147-A177-3AD203B41FA5}">
                      <a16:colId xmlns:a16="http://schemas.microsoft.com/office/drawing/2014/main" val="20007"/>
                    </a:ext>
                  </a:extLst>
                </a:gridCol>
                <a:gridCol w="550527">
                  <a:extLst>
                    <a:ext uri="{9D8B030D-6E8A-4147-A177-3AD203B41FA5}">
                      <a16:colId xmlns:a16="http://schemas.microsoft.com/office/drawing/2014/main" val="20008"/>
                    </a:ext>
                  </a:extLst>
                </a:gridCol>
                <a:gridCol w="1266439">
                  <a:extLst>
                    <a:ext uri="{9D8B030D-6E8A-4147-A177-3AD203B41FA5}">
                      <a16:colId xmlns:a16="http://schemas.microsoft.com/office/drawing/2014/main" val="20009"/>
                    </a:ext>
                  </a:extLst>
                </a:gridCol>
              </a:tblGrid>
              <a:tr h="458920">
                <a:tc>
                  <a:txBody>
                    <a:bodyPr/>
                    <a:lstStyle/>
                    <a:p>
                      <a:pPr algn="l" fontAlgn="b"/>
                      <a:r>
                        <a:rPr lang="en-US" sz="1200" b="0" u="none" strike="noStrike" cap="none" spc="0">
                          <a:solidFill>
                            <a:schemeClr val="tx1"/>
                          </a:solidFill>
                          <a:effectLst/>
                        </a:rPr>
                        <a:t>Item</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Priority</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Group</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Action</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Responsibility</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Initiation Date</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r" fontAlgn="t"/>
                      <a:r>
                        <a:rPr lang="en-US" sz="1200" b="0" u="none" strike="noStrike" cap="none" spc="0">
                          <a:solidFill>
                            <a:schemeClr val="tx1"/>
                          </a:solidFill>
                          <a:effectLst/>
                        </a:rPr>
                        <a:t>Due Date</a:t>
                      </a:r>
                      <a:endParaRPr lang="en-US" sz="1200" b="0" i="0" u="none" strike="noStrike" cap="none" spc="0">
                        <a:solidFill>
                          <a:schemeClr val="tx1"/>
                        </a:solidFill>
                        <a:effectLst/>
                        <a:latin typeface="Arial"/>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Completion Date</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Status</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tc>
                  <a:txBody>
                    <a:bodyPr/>
                    <a:lstStyle/>
                    <a:p>
                      <a:pPr algn="l" fontAlgn="b"/>
                      <a:r>
                        <a:rPr lang="en-US" sz="1200" b="0" u="none" strike="noStrike" cap="none" spc="0">
                          <a:solidFill>
                            <a:schemeClr val="tx1"/>
                          </a:solidFill>
                          <a:effectLst/>
                        </a:rPr>
                        <a:t>Comments</a:t>
                      </a:r>
                      <a:endParaRPr lang="en-US" sz="1200" b="0" i="0" u="none" strike="noStrike" cap="none" spc="0">
                        <a:solidFill>
                          <a:schemeClr val="tx1"/>
                        </a:solidFill>
                        <a:effectLst/>
                        <a:latin typeface="Calibri"/>
                      </a:endParaRPr>
                    </a:p>
                  </a:txBody>
                  <a:tcPr marL="0" marR="5606" marT="13238" marB="66190"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0000"/>
                  </a:ext>
                </a:extLst>
              </a:tr>
              <a:tr h="509666">
                <a:tc>
                  <a:txBody>
                    <a:bodyPr/>
                    <a:lstStyle/>
                    <a:p>
                      <a:pPr algn="r" fontAlgn="b"/>
                      <a:r>
                        <a:rPr lang="en-US" sz="900" u="none" strike="noStrike" cap="none" spc="0">
                          <a:solidFill>
                            <a:schemeClr val="tx1"/>
                          </a:solidFill>
                          <a:effectLst/>
                        </a:rPr>
                        <a:t>1</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0</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Design</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Research other combat robots and see what design features are preferred.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Team</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15-Oct</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ctr" fontAlgn="t"/>
                      <a:r>
                        <a:rPr lang="en-US" sz="900" u="none" strike="noStrike" cap="none" spc="0">
                          <a:solidFill>
                            <a:schemeClr val="tx1"/>
                          </a:solidFill>
                          <a:effectLst/>
                        </a:rPr>
                        <a:t>7-Nov</a:t>
                      </a:r>
                      <a:endParaRPr lang="en-US" sz="900" b="0" i="0" u="none" strike="noStrike" cap="none" spc="0">
                        <a:solidFill>
                          <a:schemeClr val="tx1"/>
                        </a:solidFill>
                        <a:effectLst/>
                        <a:latin typeface="Arial"/>
                      </a:endParaRPr>
                    </a:p>
                  </a:txBody>
                  <a:tcPr marL="0" marR="5606" marT="19857" marB="66190">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7-Nov</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Complete</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38100" cmpd="sng">
                      <a:noFill/>
                    </a:lnT>
                    <a:lnB w="9525" cap="flat" cmpd="sng" algn="ctr">
                      <a:solidFill>
                        <a:schemeClr val="tx1"/>
                      </a:solidFill>
                      <a:prstDash val="solid"/>
                    </a:lnB>
                    <a:noFill/>
                  </a:tcPr>
                </a:tc>
                <a:extLst>
                  <a:ext uri="{0D108BD9-81ED-4DB2-BD59-A6C34878D82A}">
                    <a16:rowId xmlns:a16="http://schemas.microsoft.com/office/drawing/2014/main" val="10001"/>
                  </a:ext>
                </a:extLst>
              </a:tr>
              <a:tr h="642046">
                <a:tc>
                  <a:txBody>
                    <a:bodyPr/>
                    <a:lstStyle/>
                    <a:p>
                      <a:pPr algn="r" fontAlgn="b"/>
                      <a:r>
                        <a:rPr lang="en-US" sz="900" u="none" strike="noStrike" cap="none" spc="0">
                          <a:solidFill>
                            <a:schemeClr val="tx1"/>
                          </a:solidFill>
                          <a:effectLst/>
                        </a:rPr>
                        <a:t>2</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0</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Design</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Look at roles and see which one best meets the girls' skills.  Have them prioritized. Driver will be determined later</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Team</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15-Oct</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t"/>
                      <a:r>
                        <a:rPr lang="en-US" sz="900" u="none" strike="noStrike" cap="none" spc="0">
                          <a:solidFill>
                            <a:schemeClr val="tx1"/>
                          </a:solidFill>
                          <a:effectLst/>
                        </a:rPr>
                        <a:t>7-Nov</a:t>
                      </a:r>
                      <a:endParaRPr lang="en-US" sz="900" b="0" i="0" u="none" strike="noStrike" cap="none" spc="0">
                        <a:solidFill>
                          <a:schemeClr val="tx1"/>
                        </a:solidFill>
                        <a:effectLst/>
                        <a:latin typeface="Arial"/>
                      </a:endParaRPr>
                    </a:p>
                  </a:txBody>
                  <a:tcPr marL="0" marR="5606" marT="19857" marB="66190">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7-Nov</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Complete</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244904">
                <a:tc>
                  <a:txBody>
                    <a:bodyPr/>
                    <a:lstStyle/>
                    <a:p>
                      <a:pPr algn="r" fontAlgn="b"/>
                      <a:r>
                        <a:rPr lang="en-US" sz="900" u="none" strike="noStrike" cap="none" spc="0">
                          <a:solidFill>
                            <a:schemeClr val="tx1"/>
                          </a:solidFill>
                          <a:effectLst/>
                        </a:rPr>
                        <a:t>3</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2</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Design</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Brainstorm design of bot</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Team</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7-Nov</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t"/>
                      <a:r>
                        <a:rPr lang="en-US" sz="900" u="none" strike="noStrike" cap="none" spc="0">
                          <a:solidFill>
                            <a:schemeClr val="tx1"/>
                          </a:solidFill>
                          <a:effectLst/>
                        </a:rPr>
                        <a:t>7-Nov</a:t>
                      </a:r>
                      <a:endParaRPr lang="en-US" sz="900" b="0" i="0" u="none" strike="noStrike" cap="none" spc="0">
                        <a:solidFill>
                          <a:schemeClr val="tx1"/>
                        </a:solidFill>
                        <a:effectLst/>
                        <a:latin typeface="Arial"/>
                      </a:endParaRPr>
                    </a:p>
                  </a:txBody>
                  <a:tcPr marL="0" marR="5606" marT="19857" marB="66190">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7-Nov</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Complete</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3"/>
                  </a:ext>
                </a:extLst>
              </a:tr>
              <a:tr h="377285">
                <a:tc>
                  <a:txBody>
                    <a:bodyPr/>
                    <a:lstStyle/>
                    <a:p>
                      <a:pPr algn="r" fontAlgn="b"/>
                      <a:r>
                        <a:rPr lang="en-US" sz="900" u="none" strike="noStrike" cap="none" spc="0">
                          <a:solidFill>
                            <a:schemeClr val="tx1"/>
                          </a:solidFill>
                          <a:effectLst/>
                        </a:rPr>
                        <a:t>20</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1</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Documents</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Promotional/Fundraising Doc</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Nia Everett/Emily Salomone</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t"/>
                      <a:r>
                        <a:rPr lang="en-US" sz="900" u="none" strike="noStrike" cap="none" spc="0">
                          <a:solidFill>
                            <a:schemeClr val="tx1"/>
                          </a:solidFill>
                          <a:effectLst/>
                        </a:rPr>
                        <a:t>31-Mar</a:t>
                      </a:r>
                      <a:endParaRPr lang="en-US" sz="900" b="0" i="0" u="none" strike="noStrike" cap="none" spc="0">
                        <a:solidFill>
                          <a:schemeClr val="tx1"/>
                        </a:solidFill>
                        <a:effectLst/>
                        <a:latin typeface="Arial"/>
                      </a:endParaRPr>
                    </a:p>
                  </a:txBody>
                  <a:tcPr marL="0" marR="5606" marT="19857" marB="66190">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Waiting</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Waiting on posters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r h="377285">
                <a:tc>
                  <a:txBody>
                    <a:bodyPr/>
                    <a:lstStyle/>
                    <a:p>
                      <a:pPr algn="r" fontAlgn="b"/>
                      <a:r>
                        <a:rPr lang="en-US" sz="900" u="none" strike="noStrike" cap="none" spc="0">
                          <a:solidFill>
                            <a:schemeClr val="tx1"/>
                          </a:solidFill>
                          <a:effectLst/>
                        </a:rPr>
                        <a:t>19</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1</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Documents</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Time Management</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Reilly Girardot</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t"/>
                      <a:r>
                        <a:rPr lang="en-US" sz="900" u="none" strike="noStrike" cap="none" spc="0">
                          <a:solidFill>
                            <a:schemeClr val="tx1"/>
                          </a:solidFill>
                          <a:effectLst/>
                        </a:rPr>
                        <a:t>15-Apr</a:t>
                      </a:r>
                      <a:endParaRPr lang="en-US" sz="900" b="0" i="0" u="none" strike="noStrike" cap="none" spc="0">
                        <a:solidFill>
                          <a:schemeClr val="tx1"/>
                        </a:solidFill>
                        <a:effectLst/>
                        <a:latin typeface="Arial"/>
                      </a:endParaRPr>
                    </a:p>
                  </a:txBody>
                  <a:tcPr marL="0" marR="5606" marT="19857" marB="66190">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ctr"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Waiting</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algn="l" fontAlgn="b"/>
                      <a:r>
                        <a:rPr lang="en-US" sz="900" u="none" strike="noStrike" cap="none" spc="0">
                          <a:solidFill>
                            <a:schemeClr val="tx1"/>
                          </a:solidFill>
                          <a:effectLst/>
                        </a:rPr>
                        <a:t>Waiting on everything to be finished</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5"/>
                  </a:ext>
                </a:extLst>
              </a:tr>
              <a:tr h="244904">
                <a:tc>
                  <a:txBody>
                    <a:bodyPr/>
                    <a:lstStyle/>
                    <a:p>
                      <a:pPr algn="r" fontAlgn="b"/>
                      <a:r>
                        <a:rPr lang="en-US" sz="900" u="none" strike="noStrike" cap="none" spc="0">
                          <a:solidFill>
                            <a:schemeClr val="tx1"/>
                          </a:solidFill>
                          <a:effectLst/>
                        </a:rPr>
                        <a:t>33</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1</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Documents</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Testing Results</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Alli Kulbago</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t"/>
                      <a:r>
                        <a:rPr lang="en-US" sz="900" u="none" strike="noStrike" cap="none" spc="0">
                          <a:solidFill>
                            <a:schemeClr val="tx1"/>
                          </a:solidFill>
                          <a:effectLst/>
                        </a:rPr>
                        <a:t>15-Apr</a:t>
                      </a:r>
                      <a:endParaRPr lang="en-US" sz="900" b="0" i="0" u="none" strike="noStrike" cap="none" spc="0">
                        <a:solidFill>
                          <a:schemeClr val="tx1"/>
                        </a:solidFill>
                        <a:effectLst/>
                        <a:latin typeface="Arial"/>
                      </a:endParaRPr>
                    </a:p>
                  </a:txBody>
                  <a:tcPr marL="0" marR="5606" marT="19857" marB="66190">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In Process</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 </a:t>
                      </a:r>
                      <a:endParaRPr lang="en-US" sz="900" b="0" i="0" u="none" strike="noStrike" cap="none" spc="0">
                        <a:solidFill>
                          <a:schemeClr val="tx1"/>
                        </a:solidFill>
                        <a:effectLst/>
                        <a:latin typeface="Calibri"/>
                      </a:endParaRPr>
                    </a:p>
                  </a:txBody>
                  <a:tcPr marL="0" marR="5606" marT="19857" marB="66190"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96012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b="1"/>
              <a:t>Design Process</a:t>
            </a:r>
          </a:p>
        </p:txBody>
      </p:sp>
      <p:sp>
        <p:nvSpPr>
          <p:cNvPr id="3" name="Content Placeholder 2"/>
          <p:cNvSpPr>
            <a:spLocks noGrp="1"/>
          </p:cNvSpPr>
          <p:nvPr>
            <p:ph idx="1"/>
          </p:nvPr>
        </p:nvSpPr>
        <p:spPr>
          <a:xfrm>
            <a:off x="802386" y="2320412"/>
            <a:ext cx="7543800" cy="3851787"/>
          </a:xfrm>
        </p:spPr>
        <p:txBody>
          <a:bodyPr>
            <a:normAutofit/>
          </a:bodyPr>
          <a:lstStyle/>
          <a:p>
            <a:pPr marL="0" indent="0">
              <a:buNone/>
            </a:pPr>
            <a:r>
              <a:rPr lang="en-US" sz="1500" b="1"/>
              <a:t>Materials of Construction</a:t>
            </a:r>
          </a:p>
          <a:p>
            <a:pPr marL="515938" lvl="1" indent="-241300"/>
            <a:r>
              <a:rPr lang="en-US" sz="1500" b="1"/>
              <a:t>Show Materials Considered</a:t>
            </a:r>
          </a:p>
          <a:p>
            <a:pPr marL="515938" lvl="1" indent="-241300">
              <a:spcBef>
                <a:spcPts val="0"/>
              </a:spcBef>
              <a:spcAft>
                <a:spcPts val="0"/>
              </a:spcAft>
              <a:buFont typeface="Wingdings" panose="05000000000000000000" pitchFamily="2" charset="2"/>
              <a:buChar char="v"/>
            </a:pPr>
            <a:endParaRPr lang="en-US" sz="1500" b="1"/>
          </a:p>
          <a:p>
            <a:pPr marL="515938" lvl="1" indent="-241300">
              <a:buClr>
                <a:srgbClr val="00682F"/>
              </a:buClr>
              <a:buFont typeface="Wingdings" panose="05000000000000000000" pitchFamily="2" charset="2"/>
              <a:buChar char="v"/>
            </a:pPr>
            <a:r>
              <a:rPr lang="en-US" sz="1500" b="1"/>
              <a:t>What the judges look for:</a:t>
            </a:r>
          </a:p>
          <a:p>
            <a:pPr lvl="2">
              <a:buClr>
                <a:srgbClr val="00682F"/>
              </a:buClr>
              <a:buFont typeface="Wingdings" panose="05000000000000000000" pitchFamily="2" charset="2"/>
              <a:buChar char="ü"/>
            </a:pPr>
            <a:r>
              <a:rPr lang="en-US" sz="1500" b="1"/>
              <a:t>Good: Materials used for Different Parts of Bot</a:t>
            </a:r>
          </a:p>
          <a:p>
            <a:pPr lvl="2">
              <a:buClr>
                <a:srgbClr val="00682F"/>
              </a:buClr>
              <a:buFont typeface="Wingdings" panose="05000000000000000000" pitchFamily="2" charset="2"/>
              <a:buChar char="ü"/>
            </a:pPr>
            <a:r>
              <a:rPr lang="en-US" sz="1500" b="1"/>
              <a:t>Excellent: Materials used and Factors Evaluated (Strength, Weight, Durability, Cost, Fabrication Ease)</a:t>
            </a:r>
          </a:p>
          <a:p>
            <a:pPr marL="0" indent="0">
              <a:buNone/>
            </a:pPr>
            <a:r>
              <a:rPr lang="en-US" sz="1500" b="1"/>
              <a:t>Research Methods</a:t>
            </a:r>
          </a:p>
          <a:p>
            <a:pPr marL="515938" lvl="1" indent="-241300"/>
            <a:r>
              <a:rPr lang="en-US" sz="1500" b="1"/>
              <a:t>Show the different designs considered</a:t>
            </a:r>
          </a:p>
          <a:p>
            <a:pPr marL="515938" lvl="1" indent="-241300"/>
            <a:r>
              <a:rPr lang="en-US" sz="1500" b="1"/>
              <a:t>Results of brainstorming Sessions to Determine Design</a:t>
            </a:r>
          </a:p>
          <a:p>
            <a:pPr marL="515938" lvl="1" indent="-241300">
              <a:spcBef>
                <a:spcPts val="0"/>
              </a:spcBef>
              <a:spcAft>
                <a:spcPts val="0"/>
              </a:spcAft>
              <a:buFont typeface="Wingdings" panose="05000000000000000000" pitchFamily="2" charset="2"/>
              <a:buChar char="v"/>
            </a:pPr>
            <a:endParaRPr lang="en-US" sz="1500" b="1"/>
          </a:p>
          <a:p>
            <a:pPr marL="515938" lvl="1" indent="-241300">
              <a:buClr>
                <a:srgbClr val="00682F"/>
              </a:buClr>
              <a:buFont typeface="Wingdings" panose="05000000000000000000" pitchFamily="2" charset="2"/>
              <a:buChar char="v"/>
            </a:pPr>
            <a:r>
              <a:rPr lang="en-US" sz="1500" b="1"/>
              <a:t>What the judges look for:</a:t>
            </a:r>
          </a:p>
          <a:p>
            <a:pPr lvl="2">
              <a:buClr>
                <a:srgbClr val="00682F"/>
              </a:buClr>
              <a:buFont typeface="Wingdings" panose="05000000000000000000" pitchFamily="2" charset="2"/>
              <a:buChar char="ü"/>
            </a:pPr>
            <a:r>
              <a:rPr lang="en-US" sz="1500" b="1"/>
              <a:t>Good: Evidence of Research Done on Design</a:t>
            </a:r>
          </a:p>
          <a:p>
            <a:pPr lvl="2">
              <a:buClr>
                <a:srgbClr val="00682F"/>
              </a:buClr>
              <a:buFont typeface="Wingdings" panose="05000000000000000000" pitchFamily="2" charset="2"/>
              <a:buChar char="ü"/>
            </a:pPr>
            <a:r>
              <a:rPr lang="en-US" sz="1500" b="1"/>
              <a:t>Excellent: Evidence of other Designs Researched</a:t>
            </a:r>
          </a:p>
          <a:p>
            <a:endParaRPr lang="en-US" sz="1500" b="1"/>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675D9B7B-5B57-B6C9-D89C-7090BA80AA93}"/>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13</a:t>
            </a:fld>
            <a:endParaRPr lang="en-US"/>
          </a:p>
        </p:txBody>
      </p:sp>
    </p:spTree>
    <p:extLst>
      <p:ext uri="{BB962C8B-B14F-4D97-AF65-F5344CB8AC3E}">
        <p14:creationId xmlns:p14="http://schemas.microsoft.com/office/powerpoint/2010/main" val="1039352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b="1"/>
              <a:t>Design Process (continued)</a:t>
            </a:r>
          </a:p>
        </p:txBody>
      </p:sp>
      <p:sp>
        <p:nvSpPr>
          <p:cNvPr id="3" name="Content Placeholder 2"/>
          <p:cNvSpPr>
            <a:spLocks noGrp="1"/>
          </p:cNvSpPr>
          <p:nvPr>
            <p:ph idx="1"/>
          </p:nvPr>
        </p:nvSpPr>
        <p:spPr>
          <a:xfrm>
            <a:off x="802386" y="2320412"/>
            <a:ext cx="7543800" cy="3851787"/>
          </a:xfrm>
        </p:spPr>
        <p:txBody>
          <a:bodyPr>
            <a:normAutofit lnSpcReduction="10000"/>
          </a:bodyPr>
          <a:lstStyle/>
          <a:p>
            <a:pPr marL="0" indent="0">
              <a:buNone/>
            </a:pPr>
            <a:r>
              <a:rPr lang="en-US" sz="1700" b="1"/>
              <a:t>CAD Models</a:t>
            </a:r>
          </a:p>
          <a:p>
            <a:pPr marL="515938" lvl="1" indent="-241300"/>
            <a:r>
              <a:rPr lang="en-US" sz="1700" b="1"/>
              <a:t>3D Models from CAD of your Bot Design</a:t>
            </a:r>
          </a:p>
          <a:p>
            <a:pPr marL="515938" lvl="1" indent="-241300">
              <a:spcBef>
                <a:spcPts val="0"/>
              </a:spcBef>
              <a:spcAft>
                <a:spcPts val="0"/>
              </a:spcAft>
              <a:buFont typeface="Wingdings" panose="05000000000000000000" pitchFamily="2" charset="2"/>
              <a:buChar char="v"/>
            </a:pPr>
            <a:endParaRPr lang="en-US" sz="1700" b="1"/>
          </a:p>
          <a:p>
            <a:pPr marL="515938" lvl="1" indent="-241300">
              <a:buClr>
                <a:srgbClr val="00682F"/>
              </a:buClr>
              <a:buFont typeface="Wingdings" panose="05000000000000000000" pitchFamily="2" charset="2"/>
              <a:buChar char="v"/>
            </a:pPr>
            <a:r>
              <a:rPr lang="en-US" sz="1700" b="1"/>
              <a:t>What the judges look for:</a:t>
            </a:r>
          </a:p>
          <a:p>
            <a:pPr lvl="2">
              <a:buClr>
                <a:srgbClr val="00682F"/>
              </a:buClr>
              <a:buFont typeface="Wingdings" panose="05000000000000000000" pitchFamily="2" charset="2"/>
              <a:buChar char="ü"/>
            </a:pPr>
            <a:r>
              <a:rPr lang="en-US" sz="1700" b="1"/>
              <a:t>Good: 3-D Model Available</a:t>
            </a:r>
          </a:p>
          <a:p>
            <a:pPr lvl="2">
              <a:buClr>
                <a:srgbClr val="00682F"/>
              </a:buClr>
              <a:buFont typeface="Wingdings" panose="05000000000000000000" pitchFamily="2" charset="2"/>
              <a:buChar char="ü"/>
            </a:pPr>
            <a:r>
              <a:rPr lang="en-US" sz="1700" b="1"/>
              <a:t>Excellent: 3-D model with Good Formatting and Labeling of Key Parts to the Bot</a:t>
            </a:r>
          </a:p>
          <a:p>
            <a:pPr marL="0" indent="0">
              <a:buNone/>
            </a:pPr>
            <a:r>
              <a:rPr lang="en-US" sz="1700" b="1"/>
              <a:t>Structural Analysis</a:t>
            </a:r>
          </a:p>
          <a:p>
            <a:pPr marL="515938" lvl="1" indent="-241300"/>
            <a:r>
              <a:rPr lang="en-US" sz="1700" b="1"/>
              <a:t>Pros and cons of your bot design</a:t>
            </a:r>
          </a:p>
          <a:p>
            <a:pPr marL="515938" lvl="1" indent="-241300">
              <a:spcBef>
                <a:spcPts val="0"/>
              </a:spcBef>
              <a:spcAft>
                <a:spcPts val="0"/>
              </a:spcAft>
              <a:buFont typeface="Wingdings" panose="05000000000000000000" pitchFamily="2" charset="2"/>
              <a:buChar char="v"/>
            </a:pPr>
            <a:endParaRPr lang="en-US" sz="1700" b="1"/>
          </a:p>
          <a:p>
            <a:pPr marL="515938" lvl="1" indent="-241300">
              <a:buClr>
                <a:srgbClr val="00682F"/>
              </a:buClr>
              <a:buFont typeface="Wingdings" panose="05000000000000000000" pitchFamily="2" charset="2"/>
              <a:buChar char="v"/>
            </a:pPr>
            <a:r>
              <a:rPr lang="en-US" sz="1700" b="1"/>
              <a:t>What the judges look for:</a:t>
            </a:r>
          </a:p>
          <a:p>
            <a:pPr lvl="2">
              <a:buClr>
                <a:srgbClr val="00682F"/>
              </a:buClr>
              <a:buFont typeface="Wingdings" panose="05000000000000000000" pitchFamily="2" charset="2"/>
              <a:buChar char="ü"/>
            </a:pPr>
            <a:r>
              <a:rPr lang="en-US" sz="1700" b="1"/>
              <a:t>Good: List of strengths and weaknesses of bot design</a:t>
            </a:r>
          </a:p>
          <a:p>
            <a:pPr lvl="2">
              <a:buClr>
                <a:srgbClr val="00682F"/>
              </a:buClr>
              <a:buFont typeface="Wingdings" panose="05000000000000000000" pitchFamily="2" charset="2"/>
              <a:buChar char="ü"/>
            </a:pPr>
            <a:r>
              <a:rPr lang="en-US" sz="1700" b="1"/>
              <a:t>Excellent:  Understanding of bot structure strengths and weaknesses </a:t>
            </a:r>
          </a:p>
          <a:p>
            <a:pPr marL="0" indent="0">
              <a:buNone/>
            </a:pPr>
            <a:endParaRPr lang="en-US" sz="1700" b="1"/>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88DA1562-0CC5-407D-C4C7-7C5962A191B8}"/>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14</a:t>
            </a:fld>
            <a:endParaRPr lang="en-US"/>
          </a:p>
        </p:txBody>
      </p:sp>
    </p:spTree>
    <p:extLst>
      <p:ext uri="{BB962C8B-B14F-4D97-AF65-F5344CB8AC3E}">
        <p14:creationId xmlns:p14="http://schemas.microsoft.com/office/powerpoint/2010/main" val="1046969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b="1"/>
              <a:t>Design Process (continued)</a:t>
            </a:r>
          </a:p>
        </p:txBody>
      </p:sp>
      <p:sp>
        <p:nvSpPr>
          <p:cNvPr id="3" name="Content Placeholder 2"/>
          <p:cNvSpPr>
            <a:spLocks noGrp="1"/>
          </p:cNvSpPr>
          <p:nvPr>
            <p:ph idx="1"/>
          </p:nvPr>
        </p:nvSpPr>
        <p:spPr>
          <a:xfrm>
            <a:off x="802386" y="2320412"/>
            <a:ext cx="7543800" cy="3851787"/>
          </a:xfrm>
        </p:spPr>
        <p:txBody>
          <a:bodyPr>
            <a:normAutofit lnSpcReduction="10000"/>
          </a:bodyPr>
          <a:lstStyle/>
          <a:p>
            <a:pPr marL="0" indent="0">
              <a:buNone/>
            </a:pPr>
            <a:r>
              <a:rPr lang="en-US" sz="1400" b="1"/>
              <a:t>Engineering Drawings Set</a:t>
            </a:r>
          </a:p>
          <a:p>
            <a:pPr lvl="1"/>
            <a:r>
              <a:rPr lang="en-US" sz="1400" b="1"/>
              <a:t>These Drawings should come from CAD, and should Include Dimensions on Fabricated Parts and the Specific Parts Used (</a:t>
            </a:r>
            <a:r>
              <a:rPr lang="en-US" sz="1400" b="1" i="1"/>
              <a:t>i.e., </a:t>
            </a:r>
            <a:r>
              <a:rPr lang="en-US" sz="1400" b="1"/>
              <a:t>Specs of Motors, Screw Specifications, etc.)</a:t>
            </a:r>
          </a:p>
          <a:p>
            <a:pPr marL="515938" lvl="1" indent="-241300">
              <a:spcBef>
                <a:spcPts val="0"/>
              </a:spcBef>
              <a:spcAft>
                <a:spcPts val="0"/>
              </a:spcAft>
              <a:buFont typeface="Wingdings" panose="05000000000000000000" pitchFamily="2" charset="2"/>
              <a:buChar char="v"/>
            </a:pPr>
            <a:endParaRPr lang="en-US" sz="1400" b="1"/>
          </a:p>
          <a:p>
            <a:pPr marL="515938" lvl="1" indent="-241300">
              <a:buClr>
                <a:srgbClr val="00682F"/>
              </a:buClr>
              <a:buFont typeface="Wingdings" panose="05000000000000000000" pitchFamily="2" charset="2"/>
              <a:buChar char="v"/>
            </a:pPr>
            <a:r>
              <a:rPr lang="en-US" sz="1400" b="1"/>
              <a:t>What the judges look for:</a:t>
            </a:r>
          </a:p>
          <a:p>
            <a:pPr lvl="2">
              <a:buClr>
                <a:srgbClr val="00682F"/>
              </a:buClr>
              <a:buFont typeface="Wingdings" panose="05000000000000000000" pitchFamily="2" charset="2"/>
              <a:buChar char="ü"/>
            </a:pPr>
            <a:r>
              <a:rPr lang="en-US" sz="1400" b="1"/>
              <a:t>Good: CAD drawing of finished bot</a:t>
            </a:r>
          </a:p>
          <a:p>
            <a:pPr lvl="2">
              <a:buClr>
                <a:srgbClr val="00682F"/>
              </a:buClr>
              <a:buFont typeface="Wingdings" panose="05000000000000000000" pitchFamily="2" charset="2"/>
              <a:buChar char="ü"/>
            </a:pPr>
            <a:r>
              <a:rPr lang="en-US" sz="1400" b="1"/>
              <a:t>Excellent:  Set of CAD drawings that includes finished bot, plus any parts that had to be made</a:t>
            </a:r>
          </a:p>
          <a:p>
            <a:pPr marL="0" indent="0">
              <a:buNone/>
            </a:pPr>
            <a:r>
              <a:rPr lang="en-US" sz="1400" b="1"/>
              <a:t>Weapon System Details</a:t>
            </a:r>
          </a:p>
          <a:p>
            <a:pPr lvl="1"/>
            <a:r>
              <a:rPr lang="en-US" sz="1400" b="1"/>
              <a:t>Description of the Weapon on the Bot with Advantages and Possible Disadvantages</a:t>
            </a:r>
          </a:p>
          <a:p>
            <a:pPr marL="515938" lvl="1" indent="-241300">
              <a:spcBef>
                <a:spcPts val="0"/>
              </a:spcBef>
              <a:spcAft>
                <a:spcPts val="0"/>
              </a:spcAft>
              <a:buFont typeface="Wingdings" panose="05000000000000000000" pitchFamily="2" charset="2"/>
              <a:buChar char="v"/>
            </a:pPr>
            <a:endParaRPr lang="en-US" sz="1400" b="1"/>
          </a:p>
          <a:p>
            <a:pPr marL="515938" lvl="1" indent="-241300">
              <a:buClr>
                <a:srgbClr val="00682F"/>
              </a:buClr>
              <a:buFont typeface="Wingdings" panose="05000000000000000000" pitchFamily="2" charset="2"/>
              <a:buChar char="v"/>
            </a:pPr>
            <a:r>
              <a:rPr lang="en-US" sz="1400" b="1"/>
              <a:t>What the judges look for:</a:t>
            </a:r>
          </a:p>
          <a:p>
            <a:pPr lvl="2">
              <a:buClr>
                <a:srgbClr val="00682F"/>
              </a:buClr>
              <a:buFont typeface="Wingdings" panose="05000000000000000000" pitchFamily="2" charset="2"/>
              <a:buChar char="ü"/>
            </a:pPr>
            <a:r>
              <a:rPr lang="en-US" sz="1400" b="1"/>
              <a:t>Good: A clear description of the weapon</a:t>
            </a:r>
          </a:p>
          <a:p>
            <a:pPr lvl="2">
              <a:buClr>
                <a:srgbClr val="00682F"/>
              </a:buClr>
              <a:buFont typeface="Wingdings" panose="05000000000000000000" pitchFamily="2" charset="2"/>
              <a:buChar char="ü"/>
            </a:pPr>
            <a:r>
              <a:rPr lang="en-US" sz="1400" b="1"/>
              <a:t>Excellent:  Evidence of why the weapon was chosen- advantages/disadvantages</a:t>
            </a:r>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7CF97BFE-C19E-028B-6464-F5EDD233DDA4}"/>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15</a:t>
            </a:fld>
            <a:endParaRPr lang="en-US"/>
          </a:p>
        </p:txBody>
      </p:sp>
    </p:spTree>
    <p:extLst>
      <p:ext uri="{BB962C8B-B14F-4D97-AF65-F5344CB8AC3E}">
        <p14:creationId xmlns:p14="http://schemas.microsoft.com/office/powerpoint/2010/main" val="2077278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b="1"/>
              <a:t>Design Process (continued)</a:t>
            </a:r>
          </a:p>
        </p:txBody>
      </p:sp>
      <p:sp>
        <p:nvSpPr>
          <p:cNvPr id="3" name="Content Placeholder 2"/>
          <p:cNvSpPr>
            <a:spLocks noGrp="1"/>
          </p:cNvSpPr>
          <p:nvPr>
            <p:ph idx="1"/>
          </p:nvPr>
        </p:nvSpPr>
        <p:spPr>
          <a:xfrm>
            <a:off x="802386" y="2320412"/>
            <a:ext cx="7543800" cy="3851787"/>
          </a:xfrm>
        </p:spPr>
        <p:txBody>
          <a:bodyPr>
            <a:normAutofit/>
          </a:bodyPr>
          <a:lstStyle/>
          <a:p>
            <a:pPr marL="0" indent="0">
              <a:buNone/>
            </a:pPr>
            <a:r>
              <a:rPr lang="en-US" sz="1400" b="1"/>
              <a:t>Drive System Details</a:t>
            </a:r>
          </a:p>
          <a:p>
            <a:pPr lvl="1"/>
            <a:r>
              <a:rPr lang="en-US" sz="1400" b="1"/>
              <a:t>Description of the choice of drive systems, and why it was chosen over others</a:t>
            </a:r>
          </a:p>
          <a:p>
            <a:pPr marL="515938" lvl="1" indent="-241300">
              <a:spcBef>
                <a:spcPts val="0"/>
              </a:spcBef>
              <a:spcAft>
                <a:spcPts val="0"/>
              </a:spcAft>
              <a:buFont typeface="Wingdings" panose="05000000000000000000" pitchFamily="2" charset="2"/>
              <a:buChar char="v"/>
            </a:pPr>
            <a:endParaRPr lang="en-US" sz="1400" b="1"/>
          </a:p>
          <a:p>
            <a:pPr marL="515938" lvl="1" indent="-241300">
              <a:buClr>
                <a:srgbClr val="00682F"/>
              </a:buClr>
              <a:buFont typeface="Wingdings" panose="05000000000000000000" pitchFamily="2" charset="2"/>
              <a:buChar char="v"/>
            </a:pPr>
            <a:r>
              <a:rPr lang="en-US" sz="1400" b="1"/>
              <a:t>What the judges look for:</a:t>
            </a:r>
          </a:p>
          <a:p>
            <a:pPr lvl="2">
              <a:buClr>
                <a:srgbClr val="00682F"/>
              </a:buClr>
              <a:buFont typeface="Wingdings" panose="05000000000000000000" pitchFamily="2" charset="2"/>
              <a:buChar char="ü"/>
            </a:pPr>
            <a:r>
              <a:rPr lang="en-US" sz="1400" b="1"/>
              <a:t>Good: A clear description of the drive system</a:t>
            </a:r>
          </a:p>
          <a:p>
            <a:pPr lvl="2">
              <a:buClr>
                <a:srgbClr val="00682F"/>
              </a:buClr>
              <a:buFont typeface="Wingdings" panose="05000000000000000000" pitchFamily="2" charset="2"/>
              <a:buChar char="ü"/>
            </a:pPr>
            <a:r>
              <a:rPr lang="en-US" sz="1400" b="1"/>
              <a:t>Excellent:  Evidence of why the drive system was chosen- advantages/disadvantages</a:t>
            </a:r>
          </a:p>
          <a:p>
            <a:pPr marL="0" indent="0">
              <a:buNone/>
            </a:pPr>
            <a:r>
              <a:rPr lang="en-US" sz="1400" b="1"/>
              <a:t>Power System Details</a:t>
            </a:r>
          </a:p>
          <a:p>
            <a:pPr lvl="1"/>
            <a:r>
              <a:rPr lang="en-US" sz="1400" b="1"/>
              <a:t>Description of the choice of power systems, and why it was chosen over others</a:t>
            </a:r>
          </a:p>
          <a:p>
            <a:pPr marL="515938" lvl="1" indent="-241300">
              <a:spcBef>
                <a:spcPts val="0"/>
              </a:spcBef>
              <a:spcAft>
                <a:spcPts val="0"/>
              </a:spcAft>
              <a:buFont typeface="Wingdings" panose="05000000000000000000" pitchFamily="2" charset="2"/>
              <a:buChar char="v"/>
            </a:pPr>
            <a:endParaRPr lang="en-US" sz="1400" b="1"/>
          </a:p>
          <a:p>
            <a:pPr marL="515938" lvl="1" indent="-241300">
              <a:buClr>
                <a:srgbClr val="00682F"/>
              </a:buClr>
              <a:buFont typeface="Wingdings" panose="05000000000000000000" pitchFamily="2" charset="2"/>
              <a:buChar char="v"/>
            </a:pPr>
            <a:r>
              <a:rPr lang="en-US" sz="1400" b="1"/>
              <a:t>What the judges look for:</a:t>
            </a:r>
          </a:p>
          <a:p>
            <a:pPr lvl="2">
              <a:buClr>
                <a:srgbClr val="00682F"/>
              </a:buClr>
              <a:buFont typeface="Wingdings" panose="05000000000000000000" pitchFamily="2" charset="2"/>
              <a:buChar char="ü"/>
            </a:pPr>
            <a:r>
              <a:rPr lang="en-US" sz="1400" b="1"/>
              <a:t>Good: A clear description of the power system</a:t>
            </a:r>
          </a:p>
          <a:p>
            <a:pPr lvl="2">
              <a:buClr>
                <a:srgbClr val="00682F"/>
              </a:buClr>
              <a:buFont typeface="Wingdings" panose="05000000000000000000" pitchFamily="2" charset="2"/>
              <a:buChar char="ü"/>
            </a:pPr>
            <a:r>
              <a:rPr lang="en-US" sz="1400" b="1"/>
              <a:t>Excellent:  Evidence of why the power system was chosen- advantages/disadvantages</a:t>
            </a:r>
          </a:p>
          <a:p>
            <a:pPr marL="0" lvl="2" indent="0">
              <a:buNone/>
            </a:pPr>
            <a:endParaRPr lang="en-US" sz="1400" b="1"/>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F4BC7B28-1943-8B01-7BE6-4E90121D08E3}"/>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16</a:t>
            </a:fld>
            <a:endParaRPr lang="en-US"/>
          </a:p>
        </p:txBody>
      </p:sp>
    </p:spTree>
    <p:extLst>
      <p:ext uri="{BB962C8B-B14F-4D97-AF65-F5344CB8AC3E}">
        <p14:creationId xmlns:p14="http://schemas.microsoft.com/office/powerpoint/2010/main" val="219971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93928"/>
          </a:xfrm>
        </p:spPr>
        <p:txBody>
          <a:bodyPr>
            <a:normAutofit/>
          </a:bodyPr>
          <a:lstStyle/>
          <a:p>
            <a:pPr algn="ctr"/>
            <a:r>
              <a:rPr lang="en-US" sz="3600" b="1" dirty="0"/>
              <a:t>Design Process </a:t>
            </a:r>
            <a:r>
              <a:rPr lang="en-US" sz="3200" b="1" dirty="0"/>
              <a:t>(continued)</a:t>
            </a:r>
            <a:endParaRPr lang="en-US" sz="3600" b="1" dirty="0"/>
          </a:p>
        </p:txBody>
      </p:sp>
      <p:sp>
        <p:nvSpPr>
          <p:cNvPr id="3" name="Content Placeholder 2"/>
          <p:cNvSpPr>
            <a:spLocks noGrp="1"/>
          </p:cNvSpPr>
          <p:nvPr>
            <p:ph idx="1"/>
          </p:nvPr>
        </p:nvSpPr>
        <p:spPr>
          <a:xfrm>
            <a:off x="76200" y="1143000"/>
            <a:ext cx="8839200" cy="3276600"/>
          </a:xfrm>
        </p:spPr>
        <p:txBody>
          <a:bodyPr>
            <a:noAutofit/>
          </a:bodyPr>
          <a:lstStyle/>
          <a:p>
            <a:pPr marL="0" indent="0">
              <a:buNone/>
            </a:pPr>
            <a:r>
              <a:rPr lang="en-US" sz="2400" b="1" dirty="0"/>
              <a:t>Wiring Schematic</a:t>
            </a:r>
          </a:p>
          <a:p>
            <a:pPr lvl="1"/>
            <a:r>
              <a:rPr lang="en-US" sz="2000" b="1" dirty="0"/>
              <a:t>Drawing (could be in CAD or other Software Programs Available Online) of the Bot Electrical Wiring</a:t>
            </a:r>
          </a:p>
          <a:p>
            <a:pPr marL="515938" lvl="1" indent="-241300">
              <a:spcBef>
                <a:spcPts val="0"/>
              </a:spcBef>
              <a:spcAft>
                <a:spcPts val="0"/>
              </a:spcAft>
              <a:buFont typeface="Wingdings" panose="05000000000000000000" pitchFamily="2" charset="2"/>
              <a:buChar char="v"/>
            </a:pPr>
            <a:endParaRPr lang="en-US" sz="1200" b="1" dirty="0"/>
          </a:p>
          <a:p>
            <a:pPr marL="515938" lvl="1" indent="-241300">
              <a:buClr>
                <a:srgbClr val="00682F"/>
              </a:buClr>
              <a:buFont typeface="Wingdings" panose="05000000000000000000" pitchFamily="2" charset="2"/>
              <a:buChar char="v"/>
            </a:pPr>
            <a:r>
              <a:rPr lang="en-US" b="1" dirty="0"/>
              <a:t>What the judges look for:</a:t>
            </a:r>
          </a:p>
          <a:p>
            <a:pPr lvl="2">
              <a:buClr>
                <a:srgbClr val="00682F"/>
              </a:buClr>
              <a:buFont typeface="Wingdings" panose="05000000000000000000" pitchFamily="2" charset="2"/>
              <a:buChar char="ü"/>
            </a:pPr>
            <a:r>
              <a:rPr lang="en-US" sz="1600" b="1" dirty="0"/>
              <a:t>Good: Wiring diagram</a:t>
            </a:r>
          </a:p>
          <a:p>
            <a:pPr lvl="2">
              <a:buClr>
                <a:srgbClr val="00682F"/>
              </a:buClr>
              <a:buFont typeface="Wingdings" panose="05000000000000000000" pitchFamily="2" charset="2"/>
              <a:buChar char="ü"/>
            </a:pPr>
            <a:r>
              <a:rPr lang="en-US" sz="1600" b="1" dirty="0"/>
              <a:t>Excellent:  Wiring diagram that is done digitally that is clear and well-marked</a:t>
            </a:r>
          </a:p>
          <a:p>
            <a:pPr marL="548640" lvl="2" indent="0">
              <a:buNone/>
            </a:pPr>
            <a:endParaRPr lang="en-US" sz="2400" b="1" dirty="0"/>
          </a:p>
          <a:p>
            <a:pPr marL="548640" lvl="2" indent="0" algn="ctr">
              <a:buNone/>
            </a:pPr>
            <a:endParaRPr lang="en-US" sz="2200" b="1" dirty="0"/>
          </a:p>
          <a:p>
            <a:pPr lvl="1"/>
            <a:endParaRPr lang="en-US" sz="2200" b="1" dirty="0"/>
          </a:p>
        </p:txBody>
      </p:sp>
      <p:sp>
        <p:nvSpPr>
          <p:cNvPr id="4" name="Slide Number Placeholder 3">
            <a:extLst>
              <a:ext uri="{FF2B5EF4-FFF2-40B4-BE49-F238E27FC236}">
                <a16:creationId xmlns:a16="http://schemas.microsoft.com/office/drawing/2014/main" id="{45722A4A-8A81-8B62-4A13-320AEE971E10}"/>
              </a:ext>
            </a:extLst>
          </p:cNvPr>
          <p:cNvSpPr>
            <a:spLocks noGrp="1"/>
          </p:cNvSpPr>
          <p:nvPr>
            <p:ph type="sldNum" sz="quarter" idx="12"/>
          </p:nvPr>
        </p:nvSpPr>
        <p:spPr/>
        <p:txBody>
          <a:bodyPr/>
          <a:lstStyle/>
          <a:p>
            <a:fld id="{AE69A6E1-87B6-4888-99CE-AC2AEA6F8539}" type="slidenum">
              <a:rPr lang="en-US" smtClean="0"/>
              <a:t>17</a:t>
            </a:fld>
            <a:endParaRPr lang="en-US"/>
          </a:p>
        </p:txBody>
      </p:sp>
    </p:spTree>
    <p:extLst>
      <p:ext uri="{BB962C8B-B14F-4D97-AF65-F5344CB8AC3E}">
        <p14:creationId xmlns:p14="http://schemas.microsoft.com/office/powerpoint/2010/main" val="413549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34694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429969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4068923"/>
            <a:ext cx="810678" cy="1080902"/>
            <a:chOff x="9685338" y="4460675"/>
            <a:chExt cx="1080904" cy="1080902"/>
          </a:xfrm>
        </p:grpSpPr>
        <p:sp>
          <p:nvSpPr>
            <p:cNvPr id="16" name="Oval 15">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7" name="Oval 16">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19" name="Rectangle 18">
            <a:extLst>
              <a:ext uri="{FF2B5EF4-FFF2-40B4-BE49-F238E27FC236}">
                <a16:creationId xmlns:a16="http://schemas.microsoft.com/office/drawing/2014/main" id="{9818A645-2267-4F2E-9342-266D4D1DC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9185" t="30536" r="18642" b="4554"/>
          <a:stretch/>
        </p:blipFill>
        <p:spPr bwMode="auto">
          <a:xfrm>
            <a:off x="2095813" y="564542"/>
            <a:ext cx="4975233" cy="3064611"/>
          </a:xfrm>
          <a:prstGeom prst="rect">
            <a:avLst/>
          </a:prstGeom>
          <a:noFill/>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Rectangle 20">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83745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981573"/>
            <a:ext cx="7667244"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80110" y="4277802"/>
            <a:ext cx="4516836" cy="1622451"/>
          </a:xfrm>
        </p:spPr>
        <p:txBody>
          <a:bodyPr vert="horz" lIns="91440" tIns="45720" rIns="91440" bIns="45720" rtlCol="0" anchor="ctr">
            <a:normAutofit/>
          </a:bodyPr>
          <a:lstStyle/>
          <a:p>
            <a:pPr algn="r">
              <a:lnSpc>
                <a:spcPct val="80000"/>
              </a:lnSpc>
            </a:pPr>
            <a:r>
              <a:rPr lang="en-US" sz="3300" b="1">
                <a:blipFill dpi="0" rotWithShape="1">
                  <a:blip r:embed="rId4"/>
                  <a:srcRect/>
                  <a:tile tx="6350" ty="-127000" sx="65000" sy="64000" flip="none" algn="tl"/>
                </a:blipFill>
              </a:rPr>
              <a:t>Design Process</a:t>
            </a:r>
            <a:br>
              <a:rPr lang="en-US" sz="3300">
                <a:blipFill dpi="0" rotWithShape="1">
                  <a:blip r:embed="rId4"/>
                  <a:srcRect/>
                  <a:tile tx="6350" ty="-127000" sx="65000" sy="64000" flip="none" algn="tl"/>
                </a:blipFill>
              </a:rPr>
            </a:br>
            <a:r>
              <a:rPr lang="en-US" sz="3300" b="1">
                <a:blipFill dpi="0" rotWithShape="1">
                  <a:blip r:embed="rId4"/>
                  <a:srcRect/>
                  <a:tile tx="6350" ty="-127000" sx="65000" sy="64000" flip="none" algn="tl"/>
                </a:blipFill>
              </a:rPr>
              <a:t>Wiring Schematic Example</a:t>
            </a:r>
          </a:p>
        </p:txBody>
      </p:sp>
      <p:sp>
        <p:nvSpPr>
          <p:cNvPr id="25" name="Rectangle 24">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128670"/>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AD0A1AC4-A76B-9CD2-F689-BB6305F7B1CE}"/>
              </a:ext>
            </a:extLst>
          </p:cNvPr>
          <p:cNvSpPr>
            <a:spLocks noGrp="1"/>
          </p:cNvSpPr>
          <p:nvPr>
            <p:ph type="sldNum" sz="quarter" idx="12"/>
          </p:nvPr>
        </p:nvSpPr>
        <p:spPr>
          <a:xfrm>
            <a:off x="8428482" y="6132125"/>
            <a:ext cx="594260" cy="605872"/>
          </a:xfrm>
        </p:spPr>
        <p:txBody>
          <a:bodyPr vert="horz" lIns="91440" tIns="45720" rIns="91440" bIns="45720" rtlCol="0" anchor="ctr">
            <a:normAutofit/>
          </a:bodyPr>
          <a:lstStyle/>
          <a:p>
            <a:pPr>
              <a:spcAft>
                <a:spcPts val="600"/>
              </a:spcAft>
            </a:pPr>
            <a:fld id="{AE69A6E1-87B6-4888-99CE-AC2AEA6F8539}" type="slidenum">
              <a:rPr lang="en-US" sz="1700">
                <a:solidFill>
                  <a:schemeClr val="accent1"/>
                </a:solidFill>
                <a:latin typeface="+mj-lt"/>
              </a:rPr>
              <a:pPr>
                <a:spcAft>
                  <a:spcPts val="600"/>
                </a:spcAft>
              </a:pPr>
              <a:t>18</a:t>
            </a:fld>
            <a:endParaRPr lang="en-US" sz="1700">
              <a:solidFill>
                <a:schemeClr val="accent1"/>
              </a:solidFill>
              <a:latin typeface="+mj-lt"/>
            </a:endParaRPr>
          </a:p>
        </p:txBody>
      </p:sp>
    </p:spTree>
    <p:extLst>
      <p:ext uri="{BB962C8B-B14F-4D97-AF65-F5344CB8AC3E}">
        <p14:creationId xmlns:p14="http://schemas.microsoft.com/office/powerpoint/2010/main" val="3475137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02386" y="484632"/>
            <a:ext cx="7543800" cy="1609344"/>
          </a:xfrm>
        </p:spPr>
        <p:txBody>
          <a:bodyPr>
            <a:normAutofit/>
          </a:bodyPr>
          <a:lstStyle/>
          <a:p>
            <a:r>
              <a:rPr lang="en-US" b="1"/>
              <a:t>Design Process (continued)</a:t>
            </a:r>
          </a:p>
        </p:txBody>
      </p:sp>
      <p:sp>
        <p:nvSpPr>
          <p:cNvPr id="3" name="Content Placeholder 2"/>
          <p:cNvSpPr>
            <a:spLocks noGrp="1"/>
          </p:cNvSpPr>
          <p:nvPr>
            <p:ph idx="1"/>
          </p:nvPr>
        </p:nvSpPr>
        <p:spPr>
          <a:xfrm>
            <a:off x="802386" y="2320412"/>
            <a:ext cx="7543800" cy="3851787"/>
          </a:xfrm>
        </p:spPr>
        <p:txBody>
          <a:bodyPr>
            <a:normAutofit/>
          </a:bodyPr>
          <a:lstStyle/>
          <a:p>
            <a:pPr marL="0" indent="0">
              <a:buNone/>
            </a:pPr>
            <a:r>
              <a:rPr lang="en-US" b="1"/>
              <a:t>Manufacturing Plans / Assembly Process</a:t>
            </a:r>
          </a:p>
          <a:p>
            <a:pPr lvl="1"/>
            <a:r>
              <a:rPr lang="en-US" b="1"/>
              <a:t>Written Procedure to Show how to Assemble the Bot.  This should Include Pictures with Indicators of Where the Pieces go</a:t>
            </a:r>
          </a:p>
          <a:p>
            <a:pPr lvl="1"/>
            <a:r>
              <a:rPr lang="en-US" b="1"/>
              <a:t>Describe the Ease or Lack thereof for the Bot Assembly/Disassembly</a:t>
            </a:r>
          </a:p>
          <a:p>
            <a:pPr marL="515938" lvl="1" indent="-241300">
              <a:spcBef>
                <a:spcPts val="0"/>
              </a:spcBef>
              <a:spcAft>
                <a:spcPts val="0"/>
              </a:spcAft>
              <a:buFont typeface="Wingdings" panose="05000000000000000000" pitchFamily="2" charset="2"/>
              <a:buChar char="v"/>
            </a:pPr>
            <a:endParaRPr lang="en-US" b="1"/>
          </a:p>
          <a:p>
            <a:pPr marL="515938" lvl="1" indent="-241300">
              <a:buClr>
                <a:srgbClr val="00682F"/>
              </a:buClr>
              <a:buFont typeface="Wingdings" panose="05000000000000000000" pitchFamily="2" charset="2"/>
              <a:buChar char="v"/>
            </a:pPr>
            <a:r>
              <a:rPr lang="en-US" b="1" dirty="0"/>
              <a:t>What the judges look for:</a:t>
            </a:r>
          </a:p>
          <a:p>
            <a:pPr lvl="2">
              <a:buClr>
                <a:srgbClr val="00682F"/>
              </a:buClr>
              <a:buFont typeface="Wingdings" panose="05000000000000000000" pitchFamily="2" charset="2"/>
              <a:buChar char="ü"/>
            </a:pPr>
            <a:r>
              <a:rPr lang="en-US" b="1"/>
              <a:t>Good: </a:t>
            </a:r>
            <a:r>
              <a:rPr lang="en-US" b="1" dirty="0"/>
              <a:t>3-D CAD model and</a:t>
            </a:r>
            <a:r>
              <a:rPr lang="en-US" b="1"/>
              <a:t> written instruction on how to build the bot</a:t>
            </a:r>
          </a:p>
          <a:p>
            <a:pPr lvl="2">
              <a:buClr>
                <a:srgbClr val="00682F"/>
              </a:buClr>
              <a:buFont typeface="Wingdings" panose="05000000000000000000" pitchFamily="2" charset="2"/>
              <a:buChar char="ü"/>
            </a:pPr>
            <a:r>
              <a:rPr lang="en-US" b="1"/>
              <a:t>Excellent:  Clear instructions with pictures that </a:t>
            </a:r>
            <a:r>
              <a:rPr lang="en-US" b="1" dirty="0"/>
              <a:t>are</a:t>
            </a:r>
            <a:r>
              <a:rPr lang="en-US" b="1"/>
              <a:t> easy to follow </a:t>
            </a:r>
          </a:p>
          <a:p>
            <a:pPr marL="274320" lvl="1" indent="0">
              <a:buNone/>
            </a:pPr>
            <a:endParaRPr lang="en-US" b="1"/>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468C37C9-6FFA-7D96-88E1-6F1F2E7DE0E6}"/>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19</a:t>
            </a:fld>
            <a:endParaRPr lang="en-US"/>
          </a:p>
        </p:txBody>
      </p:sp>
    </p:spTree>
    <p:extLst>
      <p:ext uri="{BB962C8B-B14F-4D97-AF65-F5344CB8AC3E}">
        <p14:creationId xmlns:p14="http://schemas.microsoft.com/office/powerpoint/2010/main" val="9296070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0FCECB-DC97-5588-FC2C-0332AE308A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F8FE282-21AD-8598-6807-B2FFB0C7A860}"/>
              </a:ext>
            </a:extLst>
          </p:cNvPr>
          <p:cNvSpPr>
            <a:spLocks noGrp="1"/>
          </p:cNvSpPr>
          <p:nvPr>
            <p:ph type="title"/>
          </p:nvPr>
        </p:nvSpPr>
        <p:spPr>
          <a:xfrm>
            <a:off x="802386" y="484632"/>
            <a:ext cx="7543800" cy="1609344"/>
          </a:xfrm>
        </p:spPr>
        <p:txBody>
          <a:bodyPr>
            <a:normAutofit/>
          </a:bodyPr>
          <a:lstStyle/>
          <a:p>
            <a:r>
              <a:rPr lang="en-US" b="1"/>
              <a:t>Design Process (continued)</a:t>
            </a:r>
          </a:p>
        </p:txBody>
      </p:sp>
      <p:sp>
        <p:nvSpPr>
          <p:cNvPr id="3" name="Content Placeholder 2">
            <a:extLst>
              <a:ext uri="{FF2B5EF4-FFF2-40B4-BE49-F238E27FC236}">
                <a16:creationId xmlns:a16="http://schemas.microsoft.com/office/drawing/2014/main" id="{EF19D3C3-29FF-2630-153D-65B5BD694BA1}"/>
              </a:ext>
            </a:extLst>
          </p:cNvPr>
          <p:cNvSpPr>
            <a:spLocks noGrp="1"/>
          </p:cNvSpPr>
          <p:nvPr>
            <p:ph idx="1"/>
          </p:nvPr>
        </p:nvSpPr>
        <p:spPr>
          <a:xfrm>
            <a:off x="802386" y="2320412"/>
            <a:ext cx="7543800" cy="3851787"/>
          </a:xfrm>
        </p:spPr>
        <p:txBody>
          <a:bodyPr>
            <a:normAutofit fontScale="92500"/>
          </a:bodyPr>
          <a:lstStyle/>
          <a:p>
            <a:pPr marL="0" lvl="1" indent="0">
              <a:buNone/>
            </a:pPr>
            <a:r>
              <a:rPr lang="en-US" sz="1300" b="1"/>
              <a:t>Testing Results </a:t>
            </a:r>
          </a:p>
          <a:p>
            <a:pPr marL="515938" lvl="1" indent="-241300"/>
            <a:r>
              <a:rPr lang="en-US" sz="1300" b="1"/>
              <a:t>Tests should be via the Scientific Method.  </a:t>
            </a:r>
          </a:p>
          <a:p>
            <a:pPr lvl="2">
              <a:buFont typeface="Wingdings" panose="05000000000000000000" pitchFamily="2" charset="2"/>
              <a:buChar char="Ø"/>
            </a:pPr>
            <a:r>
              <a:rPr lang="en-US" sz="1300" b="1"/>
              <a:t>Results should be Quantifiable and Documented.  </a:t>
            </a:r>
          </a:p>
          <a:p>
            <a:pPr lvl="2">
              <a:buFont typeface="Wingdings" panose="05000000000000000000" pitchFamily="2" charset="2"/>
              <a:buChar char="Ø"/>
            </a:pPr>
            <a:r>
              <a:rPr lang="en-US" sz="1300" b="1"/>
              <a:t>If Possible, Multiple, Tests should be Run to Ensure Repeatability of the Bot Performance</a:t>
            </a:r>
          </a:p>
          <a:p>
            <a:pPr marL="515938" lvl="1" indent="-241300">
              <a:spcBef>
                <a:spcPts val="0"/>
              </a:spcBef>
              <a:spcAft>
                <a:spcPts val="0"/>
              </a:spcAft>
              <a:buFont typeface="Wingdings" panose="05000000000000000000" pitchFamily="2" charset="2"/>
              <a:buChar char="v"/>
            </a:pPr>
            <a:endParaRPr lang="en-US" sz="1300" b="1"/>
          </a:p>
          <a:p>
            <a:pPr marL="515938" lvl="1" indent="-241300">
              <a:buClr>
                <a:srgbClr val="00682F"/>
              </a:buClr>
              <a:buFont typeface="Wingdings" panose="05000000000000000000" pitchFamily="2" charset="2"/>
              <a:buChar char="v"/>
            </a:pPr>
            <a:r>
              <a:rPr lang="en-US" sz="1300" b="1"/>
              <a:t>What the judges look for:</a:t>
            </a:r>
          </a:p>
          <a:p>
            <a:pPr lvl="2">
              <a:buClr>
                <a:srgbClr val="00682F"/>
              </a:buClr>
              <a:buFont typeface="Wingdings" panose="05000000000000000000" pitchFamily="2" charset="2"/>
              <a:buChar char="ü"/>
            </a:pPr>
            <a:r>
              <a:rPr lang="en-US" sz="1300" b="1"/>
              <a:t>Good: Description of testing and results</a:t>
            </a:r>
          </a:p>
          <a:p>
            <a:pPr lvl="2">
              <a:buClr>
                <a:srgbClr val="00682F"/>
              </a:buClr>
              <a:buFont typeface="Wingdings" panose="05000000000000000000" pitchFamily="2" charset="2"/>
              <a:buChar char="ü"/>
            </a:pPr>
            <a:r>
              <a:rPr lang="en-US" sz="1300" b="1"/>
              <a:t>Excellent:  Evidence of Aggression, Durability, and maneuverability testing.  Quantifiable results presented in a neat data-driven format</a:t>
            </a:r>
          </a:p>
          <a:p>
            <a:pPr marL="0" indent="0">
              <a:buNone/>
            </a:pPr>
            <a:r>
              <a:rPr lang="en-US" sz="1300" b="1"/>
              <a:t>Design Refinement</a:t>
            </a:r>
          </a:p>
          <a:p>
            <a:pPr lvl="1"/>
            <a:r>
              <a:rPr lang="en-US" sz="1300" b="1"/>
              <a:t>List what refinements were done based on the risk analysis and testing</a:t>
            </a:r>
          </a:p>
          <a:p>
            <a:pPr marL="515938" lvl="1" indent="-241300">
              <a:spcBef>
                <a:spcPts val="0"/>
              </a:spcBef>
              <a:spcAft>
                <a:spcPts val="0"/>
              </a:spcAft>
              <a:buFont typeface="Wingdings" panose="05000000000000000000" pitchFamily="2" charset="2"/>
              <a:buChar char="v"/>
            </a:pPr>
            <a:endParaRPr lang="en-US" sz="1300" b="1"/>
          </a:p>
          <a:p>
            <a:pPr marL="515938" lvl="1" indent="-241300">
              <a:buClr>
                <a:srgbClr val="00682F"/>
              </a:buClr>
              <a:buFont typeface="Wingdings" panose="05000000000000000000" pitchFamily="2" charset="2"/>
              <a:buChar char="v"/>
            </a:pPr>
            <a:r>
              <a:rPr lang="en-US" sz="1300" b="1"/>
              <a:t>What the judges look for:</a:t>
            </a:r>
          </a:p>
          <a:p>
            <a:pPr lvl="2">
              <a:buClr>
                <a:srgbClr val="00682F"/>
              </a:buClr>
              <a:buFont typeface="Wingdings" panose="05000000000000000000" pitchFamily="2" charset="2"/>
              <a:buChar char="ü"/>
            </a:pPr>
            <a:r>
              <a:rPr lang="en-US" sz="1300" b="1"/>
              <a:t>Good: List of refinements</a:t>
            </a:r>
          </a:p>
          <a:p>
            <a:pPr lvl="2">
              <a:buClr>
                <a:srgbClr val="00682F"/>
              </a:buClr>
              <a:buFont typeface="Wingdings" panose="05000000000000000000" pitchFamily="2" charset="2"/>
              <a:buChar char="ü"/>
            </a:pPr>
            <a:r>
              <a:rPr lang="en-US" sz="1300" b="1"/>
              <a:t>Excellent:  Risk analysis (see example on next page)or some sort of evidence of analysis of weak points of bots and fixes done to eliminate or minimize those weaknesses</a:t>
            </a:r>
          </a:p>
          <a:p>
            <a:pPr marL="0" lvl="1" indent="0">
              <a:buNone/>
            </a:pPr>
            <a:endParaRPr lang="en-US" sz="1300" b="1"/>
          </a:p>
        </p:txBody>
      </p:sp>
      <p:sp>
        <p:nvSpPr>
          <p:cNvPr id="17" name="Oval 16">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9" name="Oval 18">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4" name="Slide Number Placeholder 3">
            <a:extLst>
              <a:ext uri="{FF2B5EF4-FFF2-40B4-BE49-F238E27FC236}">
                <a16:creationId xmlns:a16="http://schemas.microsoft.com/office/drawing/2014/main" id="{9EA8FE10-E5A1-A80F-F1EC-26B3CCA3CB90}"/>
              </a:ext>
            </a:extLst>
          </p:cNvPr>
          <p:cNvSpPr>
            <a:spLocks noGrp="1"/>
          </p:cNvSpPr>
          <p:nvPr>
            <p:ph type="sldNum" sz="quarter" idx="12"/>
          </p:nvPr>
        </p:nvSpPr>
        <p:spPr>
          <a:xfrm>
            <a:off x="8483346" y="6272784"/>
            <a:ext cx="480060" cy="365125"/>
          </a:xfrm>
        </p:spPr>
        <p:txBody>
          <a:bodyPr>
            <a:normAutofit/>
          </a:bodyPr>
          <a:lstStyle/>
          <a:p>
            <a:pPr>
              <a:spcAft>
                <a:spcPts val="600"/>
              </a:spcAft>
            </a:pPr>
            <a:fld id="{AE69A6E1-87B6-4888-99CE-AC2AEA6F8539}" type="slidenum">
              <a:rPr lang="en-US" smtClean="0"/>
              <a:pPr>
                <a:spcAft>
                  <a:spcPts val="600"/>
                </a:spcAft>
              </a:pPr>
              <a:t>20</a:t>
            </a:fld>
            <a:endParaRPr lang="en-US"/>
          </a:p>
        </p:txBody>
      </p:sp>
    </p:spTree>
    <p:extLst>
      <p:ext uri="{BB962C8B-B14F-4D97-AF65-F5344CB8AC3E}">
        <p14:creationId xmlns:p14="http://schemas.microsoft.com/office/powerpoint/2010/main" val="1522790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49A7D3-684C-4C59-A4B6-7B308A6AD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34694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B1087B-C592-40E7-B532-60B453A2FE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429969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AE7447-E8F8-4A0F-9E3D-94842BFF88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85981F80-69EE-4E2B-82A8-47FDFD7720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4068923"/>
            <a:ext cx="810678" cy="1080902"/>
            <a:chOff x="9685338" y="4460675"/>
            <a:chExt cx="1080904" cy="1080902"/>
          </a:xfrm>
        </p:grpSpPr>
        <p:sp>
          <p:nvSpPr>
            <p:cNvPr id="17" name="Oval 16">
              <a:extLst>
                <a:ext uri="{FF2B5EF4-FFF2-40B4-BE49-F238E27FC236}">
                  <a16:creationId xmlns:a16="http://schemas.microsoft.com/office/drawing/2014/main" id="{46CE0473-0B07-47EE-A016-EBD87F2C8C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EDD0D1E4-DFCA-4DF0-9D37-571A5F529F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useBgFill="1">
        <p:nvSpPr>
          <p:cNvPr id="20" name="Rectangle 19">
            <a:extLst>
              <a:ext uri="{FF2B5EF4-FFF2-40B4-BE49-F238E27FC236}">
                <a16:creationId xmlns:a16="http://schemas.microsoft.com/office/drawing/2014/main" id="{9818A645-2267-4F2E-9342-266D4D1DC8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2" name="Rectangle 21">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83745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981573"/>
            <a:ext cx="7667244"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txBox="1">
            <a:spLocks/>
          </p:cNvSpPr>
          <p:nvPr/>
        </p:nvSpPr>
        <p:spPr>
          <a:xfrm>
            <a:off x="880110" y="4277802"/>
            <a:ext cx="4516836" cy="162245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lnSpc>
                <a:spcPct val="80000"/>
              </a:lnSpc>
              <a:spcAft>
                <a:spcPts val="600"/>
              </a:spcAft>
            </a:pPr>
            <a:r>
              <a:rPr lang="en-US" sz="2900" b="1" cap="all">
                <a:blipFill dpi="0" rotWithShape="1">
                  <a:blip r:embed="rId4"/>
                  <a:srcRect/>
                  <a:tile tx="6350" ty="-127000" sx="65000" sy="64000" flip="none" algn="tl"/>
                </a:blipFill>
              </a:rPr>
              <a:t>DESIGN PROCESS (CONTINUED)</a:t>
            </a:r>
          </a:p>
          <a:p>
            <a:pPr algn="r">
              <a:lnSpc>
                <a:spcPct val="80000"/>
              </a:lnSpc>
              <a:spcAft>
                <a:spcPts val="600"/>
              </a:spcAft>
            </a:pPr>
            <a:r>
              <a:rPr lang="en-US" sz="2900" b="1" cap="all">
                <a:blipFill dpi="0" rotWithShape="1">
                  <a:blip r:embed="rId4"/>
                  <a:srcRect/>
                  <a:tile tx="6350" ty="-127000" sx="65000" sy="64000" flip="none" algn="tl"/>
                </a:blipFill>
              </a:rPr>
              <a:t>Refinement Example</a:t>
            </a:r>
          </a:p>
        </p:txBody>
      </p:sp>
      <p:sp>
        <p:nvSpPr>
          <p:cNvPr id="4" name="TextBox 3"/>
          <p:cNvSpPr txBox="1"/>
          <p:nvPr/>
        </p:nvSpPr>
        <p:spPr>
          <a:xfrm>
            <a:off x="5650990" y="4190337"/>
            <a:ext cx="2612899" cy="1709917"/>
          </a:xfrm>
          <a:prstGeom prst="rect">
            <a:avLst/>
          </a:prstGeom>
        </p:spPr>
        <p:txBody>
          <a:bodyPr vert="horz" lIns="91440" tIns="45720" rIns="91440" bIns="45720" rtlCol="0" anchor="ctr">
            <a:normAutofit/>
          </a:bodyPr>
          <a:lstStyle/>
          <a:p>
            <a:pPr>
              <a:lnSpc>
                <a:spcPct val="90000"/>
              </a:lnSpc>
              <a:spcBef>
                <a:spcPts val="1200"/>
              </a:spcBef>
              <a:buClr>
                <a:schemeClr val="accent1">
                  <a:lumMod val="75000"/>
                </a:schemeClr>
              </a:buClr>
              <a:buSzPct val="85000"/>
            </a:pPr>
            <a:r>
              <a:rPr lang="en-US" sz="2200" b="1"/>
              <a:t>Look up FMEA Online to get a Template for this</a:t>
            </a:r>
          </a:p>
        </p:txBody>
      </p:sp>
      <p:sp>
        <p:nvSpPr>
          <p:cNvPr id="26" name="Rectangle 25">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128670"/>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Slide Number Placeholder 4">
            <a:extLst>
              <a:ext uri="{FF2B5EF4-FFF2-40B4-BE49-F238E27FC236}">
                <a16:creationId xmlns:a16="http://schemas.microsoft.com/office/drawing/2014/main" id="{916D0990-821E-EB7C-9188-EADBDAC35AA0}"/>
              </a:ext>
            </a:extLst>
          </p:cNvPr>
          <p:cNvSpPr>
            <a:spLocks noGrp="1"/>
          </p:cNvSpPr>
          <p:nvPr>
            <p:ph type="sldNum" sz="quarter" idx="12"/>
          </p:nvPr>
        </p:nvSpPr>
        <p:spPr>
          <a:xfrm>
            <a:off x="8428482" y="6132125"/>
            <a:ext cx="594260" cy="605872"/>
          </a:xfrm>
        </p:spPr>
        <p:txBody>
          <a:bodyPr vert="horz" lIns="91440" tIns="45720" rIns="91440" bIns="45720" rtlCol="0" anchor="ctr">
            <a:normAutofit/>
          </a:bodyPr>
          <a:lstStyle/>
          <a:p>
            <a:pPr>
              <a:spcAft>
                <a:spcPts val="600"/>
              </a:spcAft>
            </a:pPr>
            <a:fld id="{AE69A6E1-87B6-4888-99CE-AC2AEA6F8539}" type="slidenum">
              <a:rPr lang="en-US" sz="1700">
                <a:solidFill>
                  <a:schemeClr val="accent1"/>
                </a:solidFill>
                <a:latin typeface="+mj-lt"/>
              </a:rPr>
              <a:pPr>
                <a:spcAft>
                  <a:spcPts val="600"/>
                </a:spcAft>
              </a:pPr>
              <a:t>21</a:t>
            </a:fld>
            <a:endParaRPr lang="en-US" sz="1700">
              <a:solidFill>
                <a:schemeClr val="accent1"/>
              </a:solidFill>
              <a:latin typeface="+mj-lt"/>
            </a:endParaRPr>
          </a:p>
        </p:txBody>
      </p:sp>
      <p:graphicFrame>
        <p:nvGraphicFramePr>
          <p:cNvPr id="3" name="Table 2"/>
          <p:cNvGraphicFramePr>
            <a:graphicFrameLocks noGrp="1"/>
          </p:cNvGraphicFramePr>
          <p:nvPr>
            <p:extLst>
              <p:ext uri="{D42A27DB-BD31-4B8C-83A1-F6EECF244321}">
                <p14:modId xmlns:p14="http://schemas.microsoft.com/office/powerpoint/2010/main" val="421180904"/>
              </p:ext>
            </p:extLst>
          </p:nvPr>
        </p:nvGraphicFramePr>
        <p:xfrm>
          <a:off x="738378" y="688042"/>
          <a:ext cx="7690108" cy="2817613"/>
        </p:xfrm>
        <a:graphic>
          <a:graphicData uri="http://schemas.openxmlformats.org/drawingml/2006/table">
            <a:tbl>
              <a:tblPr firstRow="1" bandRow="1">
                <a:noFill/>
                <a:tableStyleId>{5C22544A-7EE6-4342-B048-85BDC9FD1C3A}</a:tableStyleId>
              </a:tblPr>
              <a:tblGrid>
                <a:gridCol w="656053">
                  <a:extLst>
                    <a:ext uri="{9D8B030D-6E8A-4147-A177-3AD203B41FA5}">
                      <a16:colId xmlns:a16="http://schemas.microsoft.com/office/drawing/2014/main" val="20000"/>
                    </a:ext>
                  </a:extLst>
                </a:gridCol>
                <a:gridCol w="1458016">
                  <a:extLst>
                    <a:ext uri="{9D8B030D-6E8A-4147-A177-3AD203B41FA5}">
                      <a16:colId xmlns:a16="http://schemas.microsoft.com/office/drawing/2014/main" val="20001"/>
                    </a:ext>
                  </a:extLst>
                </a:gridCol>
                <a:gridCol w="1184775">
                  <a:extLst>
                    <a:ext uri="{9D8B030D-6E8A-4147-A177-3AD203B41FA5}">
                      <a16:colId xmlns:a16="http://schemas.microsoft.com/office/drawing/2014/main" val="20002"/>
                    </a:ext>
                  </a:extLst>
                </a:gridCol>
                <a:gridCol w="1893836">
                  <a:extLst>
                    <a:ext uri="{9D8B030D-6E8A-4147-A177-3AD203B41FA5}">
                      <a16:colId xmlns:a16="http://schemas.microsoft.com/office/drawing/2014/main" val="20003"/>
                    </a:ext>
                  </a:extLst>
                </a:gridCol>
                <a:gridCol w="227064">
                  <a:extLst>
                    <a:ext uri="{9D8B030D-6E8A-4147-A177-3AD203B41FA5}">
                      <a16:colId xmlns:a16="http://schemas.microsoft.com/office/drawing/2014/main" val="20004"/>
                    </a:ext>
                  </a:extLst>
                </a:gridCol>
                <a:gridCol w="227064">
                  <a:extLst>
                    <a:ext uri="{9D8B030D-6E8A-4147-A177-3AD203B41FA5}">
                      <a16:colId xmlns:a16="http://schemas.microsoft.com/office/drawing/2014/main" val="20005"/>
                    </a:ext>
                  </a:extLst>
                </a:gridCol>
                <a:gridCol w="227064">
                  <a:extLst>
                    <a:ext uri="{9D8B030D-6E8A-4147-A177-3AD203B41FA5}">
                      <a16:colId xmlns:a16="http://schemas.microsoft.com/office/drawing/2014/main" val="20006"/>
                    </a:ext>
                  </a:extLst>
                </a:gridCol>
                <a:gridCol w="299473">
                  <a:extLst>
                    <a:ext uri="{9D8B030D-6E8A-4147-A177-3AD203B41FA5}">
                      <a16:colId xmlns:a16="http://schemas.microsoft.com/office/drawing/2014/main" val="20007"/>
                    </a:ext>
                  </a:extLst>
                </a:gridCol>
                <a:gridCol w="1516763">
                  <a:extLst>
                    <a:ext uri="{9D8B030D-6E8A-4147-A177-3AD203B41FA5}">
                      <a16:colId xmlns:a16="http://schemas.microsoft.com/office/drawing/2014/main" val="20008"/>
                    </a:ext>
                  </a:extLst>
                </a:gridCol>
              </a:tblGrid>
              <a:tr h="345979">
                <a:tc gridSpan="2">
                  <a:txBody>
                    <a:bodyPr/>
                    <a:lstStyle/>
                    <a:p>
                      <a:pPr marL="0" marR="0">
                        <a:lnSpc>
                          <a:spcPct val="115000"/>
                        </a:lnSpc>
                        <a:spcBef>
                          <a:spcPts val="0"/>
                        </a:spcBef>
                        <a:spcAft>
                          <a:spcPts val="0"/>
                        </a:spcAft>
                      </a:pPr>
                      <a:r>
                        <a:rPr lang="en-US" sz="1400" b="0" cap="none" spc="0">
                          <a:solidFill>
                            <a:schemeClr val="tx1"/>
                          </a:solidFill>
                          <a:effectLst/>
                        </a:rPr>
                        <a:t> </a:t>
                      </a:r>
                      <a:endParaRPr lang="en-US" sz="1400" b="0" cap="none" spc="0">
                        <a:solidFill>
                          <a:schemeClr val="tx1"/>
                        </a:solidFill>
                        <a:effectLst/>
                        <a:latin typeface="Tahoma"/>
                        <a:ea typeface="Times New Roman"/>
                      </a:endParaRPr>
                    </a:p>
                  </a:txBody>
                  <a:tcPr marL="0" marR="54648" marT="15739" marB="78693" anchor="b">
                    <a:lnL w="12700" cmpd="sng">
                      <a:noFill/>
                    </a:lnL>
                    <a:lnR w="12700" cmpd="sng">
                      <a:noFill/>
                    </a:lnR>
                    <a:lnT w="9525" cap="flat" cmpd="sng" algn="ctr">
                      <a:noFill/>
                      <a:prstDash val="solid"/>
                    </a:lnT>
                    <a:lnB w="38100" cmpd="sng">
                      <a:noFill/>
                    </a:lnB>
                    <a:noFill/>
                  </a:tcPr>
                </a:tc>
                <a:tc hMerge="1">
                  <a:txBody>
                    <a:bodyPr/>
                    <a:lstStyle/>
                    <a:p>
                      <a:endParaRPr lang="en-US"/>
                    </a:p>
                  </a:txBody>
                  <a:tcPr/>
                </a:tc>
                <a:tc gridSpan="6">
                  <a:txBody>
                    <a:bodyPr/>
                    <a:lstStyle/>
                    <a:p>
                      <a:pPr marL="0" marR="0" algn="ctr">
                        <a:lnSpc>
                          <a:spcPct val="115000"/>
                        </a:lnSpc>
                        <a:spcBef>
                          <a:spcPts val="0"/>
                        </a:spcBef>
                        <a:spcAft>
                          <a:spcPts val="0"/>
                        </a:spcAft>
                      </a:pPr>
                      <a:r>
                        <a:rPr lang="en-US" sz="1400" b="0" cap="none" spc="0">
                          <a:solidFill>
                            <a:schemeClr val="tx1"/>
                          </a:solidFill>
                          <a:effectLst/>
                        </a:rPr>
                        <a:t>Existing Conditions</a:t>
                      </a:r>
                      <a:endParaRPr lang="en-US" sz="1400" b="0" cap="none" spc="0">
                        <a:solidFill>
                          <a:schemeClr val="tx1"/>
                        </a:solidFill>
                        <a:effectLst/>
                        <a:latin typeface="Tahoma"/>
                        <a:ea typeface="Times New Roman"/>
                      </a:endParaRPr>
                    </a:p>
                  </a:txBody>
                  <a:tcPr marL="0" marR="54648" marT="15739" marB="78693" anchor="b">
                    <a:lnL w="12700" cmpd="sng">
                      <a:noFill/>
                    </a:lnL>
                    <a:lnR w="12700" cmpd="sng">
                      <a:noFill/>
                    </a:lnR>
                    <a:lnT w="9525" cap="flat" cmpd="sng" algn="ctr">
                      <a:noFill/>
                      <a:prstDash val="solid"/>
                    </a:lnT>
                    <a:lnB w="38100" cmpd="sng">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r>
                        <a:rPr lang="en-US" sz="1400" b="0" cap="none" spc="0">
                          <a:solidFill>
                            <a:schemeClr val="tx1"/>
                          </a:solidFill>
                          <a:effectLst/>
                        </a:rPr>
                        <a:t> </a:t>
                      </a:r>
                      <a:endParaRPr lang="en-US" sz="1400" b="0" cap="none" spc="0">
                        <a:solidFill>
                          <a:schemeClr val="tx1"/>
                        </a:solidFill>
                        <a:effectLst/>
                        <a:latin typeface="Tahoma"/>
                        <a:ea typeface="Times New Roman"/>
                      </a:endParaRPr>
                    </a:p>
                  </a:txBody>
                  <a:tcPr marL="0" marR="54648" marT="15739" marB="78693"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10000"/>
                  </a:ext>
                </a:extLst>
              </a:tr>
              <a:tr h="851038">
                <a:tc>
                  <a:txBody>
                    <a:bodyPr/>
                    <a:lstStyle/>
                    <a:p>
                      <a:pPr marL="0" marR="0" algn="ctr">
                        <a:lnSpc>
                          <a:spcPct val="115000"/>
                        </a:lnSpc>
                        <a:spcBef>
                          <a:spcPts val="0"/>
                        </a:spcBef>
                        <a:spcAft>
                          <a:spcPts val="0"/>
                        </a:spcAft>
                      </a:pPr>
                      <a:r>
                        <a:rPr lang="en-US" sz="1000" cap="none" spc="0">
                          <a:solidFill>
                            <a:schemeClr val="tx1"/>
                          </a:solidFill>
                          <a:effectLst/>
                        </a:rPr>
                        <a:t>Item</a:t>
                      </a:r>
                      <a:br>
                        <a:rPr lang="en-US" sz="1000" cap="none" spc="0">
                          <a:solidFill>
                            <a:schemeClr val="tx1"/>
                          </a:solidFill>
                          <a:effectLst/>
                        </a:rPr>
                      </a:br>
                      <a:r>
                        <a:rPr lang="en-US" sz="1000" cap="none" spc="0">
                          <a:solidFill>
                            <a:schemeClr val="tx1"/>
                          </a:solidFill>
                          <a:effectLst/>
                        </a:rPr>
                        <a:t>and </a:t>
                      </a:r>
                      <a:br>
                        <a:rPr lang="en-US" sz="1000" cap="none" spc="0">
                          <a:solidFill>
                            <a:schemeClr val="tx1"/>
                          </a:solidFill>
                          <a:effectLst/>
                        </a:rPr>
                      </a:br>
                      <a:r>
                        <a:rPr lang="en-US" sz="1000" cap="none" spc="0">
                          <a:solidFill>
                            <a:schemeClr val="tx1"/>
                          </a:solidFill>
                          <a:effectLst/>
                        </a:rPr>
                        <a:t>Function</a:t>
                      </a:r>
                      <a:endParaRPr lang="en-US" sz="1000" cap="none" spc="0">
                        <a:solidFill>
                          <a:schemeClr val="tx1"/>
                        </a:solidFill>
                        <a:effectLst/>
                        <a:latin typeface="Tahoma"/>
                        <a:ea typeface="Times New Roman"/>
                      </a:endParaRPr>
                    </a:p>
                  </a:txBody>
                  <a:tcPr marL="0" marR="54648" marT="23608" marB="78693">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115000"/>
                        </a:lnSpc>
                        <a:spcBef>
                          <a:spcPts val="0"/>
                        </a:spcBef>
                        <a:spcAft>
                          <a:spcPts val="0"/>
                        </a:spcAft>
                      </a:pPr>
                      <a:r>
                        <a:rPr lang="en-US" sz="1000" cap="none" spc="0">
                          <a:solidFill>
                            <a:schemeClr val="tx1"/>
                          </a:solidFill>
                          <a:effectLst/>
                        </a:rPr>
                        <a:t>Potential </a:t>
                      </a:r>
                      <a:br>
                        <a:rPr lang="en-US" sz="1000" cap="none" spc="0">
                          <a:solidFill>
                            <a:schemeClr val="tx1"/>
                          </a:solidFill>
                          <a:effectLst/>
                        </a:rPr>
                      </a:br>
                      <a:r>
                        <a:rPr lang="en-US" sz="1000" cap="none" spc="0">
                          <a:solidFill>
                            <a:schemeClr val="tx1"/>
                          </a:solidFill>
                          <a:effectLst/>
                        </a:rPr>
                        <a:t>Failure</a:t>
                      </a:r>
                      <a:br>
                        <a:rPr lang="en-US" sz="1000" cap="none" spc="0">
                          <a:solidFill>
                            <a:schemeClr val="tx1"/>
                          </a:solidFill>
                          <a:effectLst/>
                        </a:rPr>
                      </a:br>
                      <a:r>
                        <a:rPr lang="en-US" sz="1000" cap="none" spc="0">
                          <a:solidFill>
                            <a:schemeClr val="tx1"/>
                          </a:solidFill>
                          <a:effectLst/>
                        </a:rPr>
                        <a:t> Mode</a:t>
                      </a:r>
                      <a:endParaRPr lang="en-US" sz="1000" cap="none" spc="0">
                        <a:solidFill>
                          <a:schemeClr val="tx1"/>
                        </a:solidFill>
                        <a:effectLst/>
                        <a:latin typeface="Tahoma"/>
                        <a:ea typeface="Times New Roman"/>
                      </a:endParaRPr>
                    </a:p>
                  </a:txBody>
                  <a:tcPr marL="0" marR="54648" marT="23608" marB="78693">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115000"/>
                        </a:lnSpc>
                        <a:spcBef>
                          <a:spcPts val="0"/>
                        </a:spcBef>
                        <a:spcAft>
                          <a:spcPts val="0"/>
                        </a:spcAft>
                      </a:pPr>
                      <a:r>
                        <a:rPr lang="en-US" sz="1000" cap="none" spc="0">
                          <a:solidFill>
                            <a:schemeClr val="tx1"/>
                          </a:solidFill>
                          <a:effectLst/>
                        </a:rPr>
                        <a:t>Potential Effect(s)</a:t>
                      </a:r>
                      <a:br>
                        <a:rPr lang="en-US" sz="1000" cap="none" spc="0">
                          <a:solidFill>
                            <a:schemeClr val="tx1"/>
                          </a:solidFill>
                          <a:effectLst/>
                        </a:rPr>
                      </a:br>
                      <a:r>
                        <a:rPr lang="en-US" sz="1000" cap="none" spc="0">
                          <a:solidFill>
                            <a:schemeClr val="tx1"/>
                          </a:solidFill>
                          <a:effectLst/>
                        </a:rPr>
                        <a:t>of</a:t>
                      </a:r>
                      <a:br>
                        <a:rPr lang="en-US" sz="1000" cap="none" spc="0">
                          <a:solidFill>
                            <a:schemeClr val="tx1"/>
                          </a:solidFill>
                          <a:effectLst/>
                        </a:rPr>
                      </a:br>
                      <a:r>
                        <a:rPr lang="en-US" sz="1000" cap="none" spc="0">
                          <a:solidFill>
                            <a:schemeClr val="tx1"/>
                          </a:solidFill>
                          <a:effectLst/>
                        </a:rPr>
                        <a:t>Failure</a:t>
                      </a:r>
                      <a:endParaRPr lang="en-US" sz="1000" cap="none" spc="0">
                        <a:solidFill>
                          <a:schemeClr val="tx1"/>
                        </a:solidFill>
                        <a:effectLst/>
                        <a:latin typeface="Tahoma"/>
                        <a:ea typeface="Times New Roman"/>
                      </a:endParaRPr>
                    </a:p>
                  </a:txBody>
                  <a:tcPr marL="0" marR="54648" marT="23608" marB="78693"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115000"/>
                        </a:lnSpc>
                        <a:spcBef>
                          <a:spcPts val="0"/>
                        </a:spcBef>
                        <a:spcAft>
                          <a:spcPts val="0"/>
                        </a:spcAft>
                      </a:pPr>
                      <a:r>
                        <a:rPr lang="en-US" sz="1000" cap="none" spc="0">
                          <a:solidFill>
                            <a:schemeClr val="tx1"/>
                          </a:solidFill>
                          <a:effectLst/>
                        </a:rPr>
                        <a:t>Potential </a:t>
                      </a:r>
                      <a:br>
                        <a:rPr lang="en-US" sz="1000" cap="none" spc="0">
                          <a:solidFill>
                            <a:schemeClr val="tx1"/>
                          </a:solidFill>
                          <a:effectLst/>
                        </a:rPr>
                      </a:br>
                      <a:r>
                        <a:rPr lang="en-US" sz="1000" cap="none" spc="0">
                          <a:solidFill>
                            <a:schemeClr val="tx1"/>
                          </a:solidFill>
                          <a:effectLst/>
                        </a:rPr>
                        <a:t>Cause</a:t>
                      </a:r>
                      <a:br>
                        <a:rPr lang="en-US" sz="1000" cap="none" spc="0">
                          <a:solidFill>
                            <a:schemeClr val="tx1"/>
                          </a:solidFill>
                          <a:effectLst/>
                        </a:rPr>
                      </a:br>
                      <a:r>
                        <a:rPr lang="en-US" sz="1000" cap="none" spc="0">
                          <a:solidFill>
                            <a:schemeClr val="tx1"/>
                          </a:solidFill>
                          <a:effectLst/>
                        </a:rPr>
                        <a:t>of</a:t>
                      </a:r>
                      <a:br>
                        <a:rPr lang="en-US" sz="1000" cap="none" spc="0">
                          <a:solidFill>
                            <a:schemeClr val="tx1"/>
                          </a:solidFill>
                          <a:effectLst/>
                        </a:rPr>
                      </a:br>
                      <a:r>
                        <a:rPr lang="en-US" sz="1000" cap="none" spc="0">
                          <a:solidFill>
                            <a:schemeClr val="tx1"/>
                          </a:solidFill>
                          <a:effectLst/>
                        </a:rPr>
                        <a:t>Failure</a:t>
                      </a:r>
                      <a:endParaRPr lang="en-US" sz="1000" cap="none" spc="0">
                        <a:solidFill>
                          <a:schemeClr val="tx1"/>
                        </a:solidFill>
                        <a:effectLst/>
                        <a:latin typeface="Tahoma"/>
                        <a:ea typeface="Times New Roman"/>
                      </a:endParaRPr>
                    </a:p>
                  </a:txBody>
                  <a:tcPr marL="0" marR="54648" marT="23608" marB="78693"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71755" marR="71755" algn="ctr">
                        <a:lnSpc>
                          <a:spcPct val="115000"/>
                        </a:lnSpc>
                        <a:spcBef>
                          <a:spcPts val="0"/>
                        </a:spcBef>
                        <a:spcAft>
                          <a:spcPts val="0"/>
                        </a:spcAft>
                      </a:pPr>
                      <a:r>
                        <a:rPr lang="en-US" sz="1000" cap="none" spc="0">
                          <a:solidFill>
                            <a:schemeClr val="tx1"/>
                          </a:solidFill>
                          <a:effectLst/>
                        </a:rPr>
                        <a:t>Severity </a:t>
                      </a:r>
                      <a:endParaRPr lang="en-US" sz="1000" cap="none" spc="0">
                        <a:solidFill>
                          <a:schemeClr val="tx1"/>
                        </a:solidFill>
                        <a:effectLst/>
                        <a:latin typeface="Tahoma"/>
                        <a:ea typeface="Times New Roman"/>
                      </a:endParaRPr>
                    </a:p>
                  </a:txBody>
                  <a:tcPr marL="0" marR="54648" marT="23608" marB="78693" vert="vert270"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115000"/>
                        </a:lnSpc>
                        <a:spcBef>
                          <a:spcPts val="0"/>
                        </a:spcBef>
                        <a:spcAft>
                          <a:spcPts val="0"/>
                        </a:spcAft>
                      </a:pPr>
                      <a:r>
                        <a:rPr lang="en-US" sz="1000" cap="none" spc="0">
                          <a:solidFill>
                            <a:schemeClr val="tx1"/>
                          </a:solidFill>
                          <a:effectLst/>
                        </a:rPr>
                        <a:t>Occurrence</a:t>
                      </a:r>
                      <a:endParaRPr lang="en-US" sz="1000" cap="none" spc="0">
                        <a:solidFill>
                          <a:schemeClr val="tx1"/>
                        </a:solidFill>
                        <a:effectLst/>
                        <a:latin typeface="Tahoma"/>
                        <a:ea typeface="Times New Roman"/>
                      </a:endParaRPr>
                    </a:p>
                  </a:txBody>
                  <a:tcPr marL="0" marR="54648" marT="23608" marB="78693" vert="vert270"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115000"/>
                        </a:lnSpc>
                        <a:spcBef>
                          <a:spcPts val="0"/>
                        </a:spcBef>
                        <a:spcAft>
                          <a:spcPts val="0"/>
                        </a:spcAft>
                      </a:pPr>
                      <a:r>
                        <a:rPr lang="en-US" sz="1000" cap="none" spc="0">
                          <a:solidFill>
                            <a:schemeClr val="tx1"/>
                          </a:solidFill>
                          <a:effectLst/>
                        </a:rPr>
                        <a:t>Detection</a:t>
                      </a:r>
                      <a:endParaRPr lang="en-US" sz="1000" cap="none" spc="0">
                        <a:solidFill>
                          <a:schemeClr val="tx1"/>
                        </a:solidFill>
                        <a:effectLst/>
                        <a:latin typeface="Tahoma"/>
                        <a:ea typeface="Times New Roman"/>
                      </a:endParaRPr>
                    </a:p>
                  </a:txBody>
                  <a:tcPr marL="0" marR="54648" marT="23608" marB="78693" vert="vert270"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71755" marR="71755" algn="ctr">
                        <a:lnSpc>
                          <a:spcPct val="115000"/>
                        </a:lnSpc>
                        <a:spcBef>
                          <a:spcPts val="0"/>
                        </a:spcBef>
                        <a:spcAft>
                          <a:spcPts val="0"/>
                        </a:spcAft>
                      </a:pPr>
                      <a:r>
                        <a:rPr lang="en-US" sz="1000" cap="none" spc="0">
                          <a:solidFill>
                            <a:schemeClr val="tx1"/>
                          </a:solidFill>
                          <a:effectLst/>
                        </a:rPr>
                        <a:t>RPN</a:t>
                      </a:r>
                      <a:endParaRPr lang="en-US" sz="1000" cap="none" spc="0">
                        <a:solidFill>
                          <a:schemeClr val="tx1"/>
                        </a:solidFill>
                        <a:effectLst/>
                        <a:latin typeface="Tahoma"/>
                        <a:ea typeface="Times New Roman"/>
                      </a:endParaRPr>
                    </a:p>
                  </a:txBody>
                  <a:tcPr marL="0" marR="54648" marT="23608" marB="78693" vert="vert270" anchor="ctr">
                    <a:lnL w="12700" cmpd="sng">
                      <a:noFill/>
                      <a:prstDash val="solid"/>
                    </a:lnL>
                    <a:lnR w="12700" cmpd="sng">
                      <a:noFill/>
                      <a:prstDash val="solid"/>
                    </a:lnR>
                    <a:lnT w="38100" cmpd="sng">
                      <a:noFill/>
                    </a:lnT>
                    <a:lnB w="9525" cap="flat" cmpd="sng" algn="ctr">
                      <a:solidFill>
                        <a:schemeClr val="tx1"/>
                      </a:solidFill>
                      <a:prstDash val="solid"/>
                    </a:lnB>
                    <a:noFill/>
                  </a:tcPr>
                </a:tc>
                <a:tc>
                  <a:txBody>
                    <a:bodyPr/>
                    <a:lstStyle/>
                    <a:p>
                      <a:pPr marL="0" marR="0" algn="ctr">
                        <a:lnSpc>
                          <a:spcPct val="115000"/>
                        </a:lnSpc>
                        <a:spcBef>
                          <a:spcPts val="0"/>
                        </a:spcBef>
                        <a:spcAft>
                          <a:spcPts val="0"/>
                        </a:spcAft>
                      </a:pPr>
                      <a:r>
                        <a:rPr lang="en-US" sz="1000" cap="none" spc="0">
                          <a:solidFill>
                            <a:schemeClr val="tx1"/>
                          </a:solidFill>
                          <a:effectLst/>
                        </a:rPr>
                        <a:t>Current Controls and/or Recommended </a:t>
                      </a:r>
                      <a:br>
                        <a:rPr lang="en-US" sz="1000" cap="none" spc="0">
                          <a:solidFill>
                            <a:schemeClr val="tx1"/>
                          </a:solidFill>
                          <a:effectLst/>
                        </a:rPr>
                      </a:br>
                      <a:r>
                        <a:rPr lang="en-US" sz="1000" cap="none" spc="0">
                          <a:solidFill>
                            <a:schemeClr val="tx1"/>
                          </a:solidFill>
                          <a:effectLst/>
                        </a:rPr>
                        <a:t>Actions</a:t>
                      </a:r>
                      <a:endParaRPr lang="en-US" sz="1000" cap="none" spc="0">
                        <a:solidFill>
                          <a:schemeClr val="tx1"/>
                        </a:solidFill>
                        <a:effectLst/>
                        <a:latin typeface="Tahoma"/>
                        <a:ea typeface="Times New Roman"/>
                      </a:endParaRPr>
                    </a:p>
                  </a:txBody>
                  <a:tcPr marL="0" marR="54648" marT="23608" marB="78693">
                    <a:lnL w="12700" cmpd="sng">
                      <a:noFill/>
                      <a:prstDash val="solid"/>
                    </a:lnL>
                    <a:lnR w="12700" cmpd="sng">
                      <a:noFill/>
                      <a:prstDash val="solid"/>
                    </a:lnR>
                    <a:lnT w="38100" cmpd="sng">
                      <a:noFill/>
                    </a:lnT>
                    <a:lnB w="9525" cap="flat" cmpd="sng" algn="ctr">
                      <a:solidFill>
                        <a:schemeClr val="tx1"/>
                      </a:solidFill>
                      <a:prstDash val="solid"/>
                    </a:lnB>
                    <a:noFill/>
                  </a:tcPr>
                </a:tc>
                <a:extLst>
                  <a:ext uri="{0D108BD9-81ED-4DB2-BD59-A6C34878D82A}">
                    <a16:rowId xmlns:a16="http://schemas.microsoft.com/office/drawing/2014/main" val="10001"/>
                  </a:ext>
                </a:extLst>
              </a:tr>
              <a:tr h="479867">
                <a:tc>
                  <a:txBody>
                    <a:bodyPr/>
                    <a:lstStyle/>
                    <a:p>
                      <a:pPr marL="0" marR="0">
                        <a:lnSpc>
                          <a:spcPct val="115000"/>
                        </a:lnSpc>
                        <a:spcBef>
                          <a:spcPts val="0"/>
                        </a:spcBef>
                        <a:spcAft>
                          <a:spcPts val="0"/>
                        </a:spcAft>
                      </a:pPr>
                      <a:r>
                        <a:rPr lang="en-US" sz="1000" cap="none" spc="0">
                          <a:solidFill>
                            <a:schemeClr val="tx1"/>
                          </a:solidFill>
                          <a:effectLst/>
                        </a:rPr>
                        <a:t>Spinner</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Could catch and break a belt</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No weapon</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Debris</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 </a:t>
                      </a:r>
                    </a:p>
                    <a:p>
                      <a:pPr marL="0" marR="0">
                        <a:lnSpc>
                          <a:spcPct val="115000"/>
                        </a:lnSpc>
                        <a:spcBef>
                          <a:spcPts val="0"/>
                        </a:spcBef>
                        <a:spcAft>
                          <a:spcPts val="0"/>
                        </a:spcAft>
                      </a:pPr>
                      <a:r>
                        <a:rPr lang="en-US" sz="1000" cap="none" spc="0">
                          <a:solidFill>
                            <a:schemeClr val="tx1"/>
                          </a:solidFill>
                          <a:effectLst/>
                        </a:rPr>
                        <a:t>4</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5</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1</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highlight>
                            <a:srgbClr val="FFFF00"/>
                          </a:highlight>
                        </a:rPr>
                        <a:t>20</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Extra Belts</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2"/>
                  </a:ext>
                </a:extLst>
              </a:tr>
              <a:tr h="660862">
                <a:tc>
                  <a:txBody>
                    <a:bodyPr/>
                    <a:lstStyle/>
                    <a:p>
                      <a:pPr marL="0" marR="0">
                        <a:lnSpc>
                          <a:spcPct val="115000"/>
                        </a:lnSpc>
                        <a:spcBef>
                          <a:spcPts val="0"/>
                        </a:spcBef>
                        <a:spcAft>
                          <a:spcPts val="0"/>
                        </a:spcAft>
                      </a:pPr>
                      <a:r>
                        <a:rPr lang="en-US" sz="1000" cap="none" spc="0">
                          <a:solidFill>
                            <a:schemeClr val="tx1"/>
                          </a:solidFill>
                          <a:effectLst/>
                        </a:rPr>
                        <a:t>Remote Control</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Batteries could die</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Loss of Function</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Weak batteries</a:t>
                      </a:r>
                    </a:p>
                    <a:p>
                      <a:pPr marL="0" marR="0">
                        <a:lnSpc>
                          <a:spcPct val="115000"/>
                        </a:lnSpc>
                        <a:spcBef>
                          <a:spcPts val="0"/>
                        </a:spcBef>
                        <a:spcAft>
                          <a:spcPts val="0"/>
                        </a:spcAft>
                      </a:pPr>
                      <a:r>
                        <a:rPr lang="en-US" sz="1000" cap="none" spc="0">
                          <a:solidFill>
                            <a:schemeClr val="tx1"/>
                          </a:solidFill>
                          <a:effectLst/>
                        </a:rPr>
                        <a:t>Something is pulling too much power</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5</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1</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4</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highlight>
                            <a:srgbClr val="FFFF00"/>
                          </a:highlight>
                        </a:rPr>
                        <a:t>20</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tc>
                  <a:txBody>
                    <a:bodyPr/>
                    <a:lstStyle/>
                    <a:p>
                      <a:pPr marL="0" marR="0">
                        <a:lnSpc>
                          <a:spcPct val="115000"/>
                        </a:lnSpc>
                        <a:spcBef>
                          <a:spcPts val="0"/>
                        </a:spcBef>
                        <a:spcAft>
                          <a:spcPts val="0"/>
                        </a:spcAft>
                      </a:pPr>
                      <a:r>
                        <a:rPr lang="en-US" sz="1000" cap="none" spc="0">
                          <a:solidFill>
                            <a:schemeClr val="tx1"/>
                          </a:solidFill>
                          <a:effectLst/>
                        </a:rPr>
                        <a:t>Extra batteries</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12700" cmpd="sng">
                      <a:noFill/>
                      <a:prstDash val="solid"/>
                    </a:lnT>
                    <a:lnB w="9525" cap="flat" cmpd="sng" algn="ctr">
                      <a:solidFill>
                        <a:schemeClr val="tx1"/>
                      </a:solidFill>
                      <a:prstDash val="solid"/>
                    </a:lnB>
                    <a:noFill/>
                  </a:tcPr>
                </a:tc>
                <a:extLst>
                  <a:ext uri="{0D108BD9-81ED-4DB2-BD59-A6C34878D82A}">
                    <a16:rowId xmlns:a16="http://schemas.microsoft.com/office/drawing/2014/main" val="10003"/>
                  </a:ext>
                </a:extLst>
              </a:tr>
              <a:tr h="479867">
                <a:tc>
                  <a:txBody>
                    <a:bodyPr/>
                    <a:lstStyle/>
                    <a:p>
                      <a:pPr marL="0" marR="0">
                        <a:lnSpc>
                          <a:spcPct val="115000"/>
                        </a:lnSpc>
                        <a:spcBef>
                          <a:spcPts val="0"/>
                        </a:spcBef>
                        <a:spcAft>
                          <a:spcPts val="0"/>
                        </a:spcAft>
                      </a:pPr>
                      <a:r>
                        <a:rPr lang="en-US" sz="1000" cap="none" spc="0">
                          <a:solidFill>
                            <a:schemeClr val="tx1"/>
                          </a:solidFill>
                          <a:effectLst/>
                        </a:rPr>
                        <a:t>Remote Control</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Switch in wrong position</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Weapon wouldn’t move</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Not putting it back in starting position</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2</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1</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1</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2</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tc>
                  <a:txBody>
                    <a:bodyPr/>
                    <a:lstStyle/>
                    <a:p>
                      <a:pPr marL="0" marR="0">
                        <a:lnSpc>
                          <a:spcPct val="115000"/>
                        </a:lnSpc>
                        <a:spcBef>
                          <a:spcPts val="0"/>
                        </a:spcBef>
                        <a:spcAft>
                          <a:spcPts val="0"/>
                        </a:spcAft>
                      </a:pPr>
                      <a:r>
                        <a:rPr lang="en-US" sz="1000" cap="none" spc="0">
                          <a:solidFill>
                            <a:schemeClr val="tx1"/>
                          </a:solidFill>
                          <a:effectLst/>
                        </a:rPr>
                        <a:t>Turn it off and turn it back on</a:t>
                      </a:r>
                      <a:endParaRPr lang="en-US" sz="1000" cap="none" spc="0">
                        <a:solidFill>
                          <a:schemeClr val="tx1"/>
                        </a:solidFill>
                        <a:effectLst/>
                        <a:latin typeface="Tahoma"/>
                        <a:ea typeface="Times New Roman"/>
                      </a:endParaRPr>
                    </a:p>
                  </a:txBody>
                  <a:tcPr marL="0" marR="54648" marT="23608" marB="78693" anchor="b">
                    <a:lnL w="12700" cmpd="sng">
                      <a:noFill/>
                      <a:prstDash val="solid"/>
                    </a:lnL>
                    <a:lnR w="12700" cmpd="sng">
                      <a:noFill/>
                      <a:prstDash val="solid"/>
                    </a:lnR>
                    <a:lnT w="9525" cap="flat" cmpd="sng" algn="ctr">
                      <a:solidFill>
                        <a:schemeClr val="tx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03749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34694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4299696"/>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0625" y="1484779"/>
            <a:ext cx="7667244"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236911" y="4068923"/>
            <a:ext cx="810678" cy="1080902"/>
            <a:chOff x="9685338" y="4460675"/>
            <a:chExt cx="1080904" cy="1080902"/>
          </a:xfrm>
        </p:grpSpPr>
        <p:sp>
          <p:nvSpPr>
            <p:cNvPr id="17" name="Oval 16">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6" name="Picture 5" descr="Wood human figure">
            <a:extLst>
              <a:ext uri="{FF2B5EF4-FFF2-40B4-BE49-F238E27FC236}">
                <a16:creationId xmlns:a16="http://schemas.microsoft.com/office/drawing/2014/main" id="{17113D5F-868C-C5E2-825F-3C2B30791497}"/>
              </a:ext>
            </a:extLst>
          </p:cNvPr>
          <p:cNvPicPr>
            <a:picLocks noChangeAspect="1"/>
          </p:cNvPicPr>
          <p:nvPr/>
        </p:nvPicPr>
        <p:blipFill>
          <a:blip r:embed="rId6"/>
          <a:srcRect r="10999" b="-1"/>
          <a:stretch>
            <a:fillRect/>
          </a:stretch>
        </p:blipFill>
        <p:spPr>
          <a:xfrm>
            <a:off x="20" y="10"/>
            <a:ext cx="9143978" cy="6857990"/>
          </a:xfrm>
          <a:prstGeom prst="rect">
            <a:avLst/>
          </a:prstGeom>
        </p:spPr>
      </p:pic>
      <p:sp>
        <p:nvSpPr>
          <p:cNvPr id="20" name="Rectangle 19">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83745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981573"/>
            <a:ext cx="7667244"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itle 1">
            <a:extLst>
              <a:ext uri="{FF2B5EF4-FFF2-40B4-BE49-F238E27FC236}">
                <a16:creationId xmlns:a16="http://schemas.microsoft.com/office/drawing/2014/main" id="{9D508F32-A339-8D52-BC93-500F965E9A93}"/>
              </a:ext>
            </a:extLst>
          </p:cNvPr>
          <p:cNvSpPr txBox="1">
            <a:spLocks/>
          </p:cNvSpPr>
          <p:nvPr/>
        </p:nvSpPr>
        <p:spPr>
          <a:xfrm>
            <a:off x="880110" y="4277802"/>
            <a:ext cx="4516836" cy="1622451"/>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lnSpc>
                <a:spcPct val="80000"/>
              </a:lnSpc>
              <a:spcAft>
                <a:spcPts val="600"/>
              </a:spcAft>
            </a:pPr>
            <a:r>
              <a:rPr lang="en-US" sz="5200" b="1" cap="all">
                <a:blipFill dpi="0" rotWithShape="1">
                  <a:blip r:embed="rId4"/>
                  <a:srcRect/>
                  <a:tile tx="6350" ty="-127000" sx="65000" sy="64000" flip="none" algn="tl"/>
                </a:blipFill>
              </a:rPr>
              <a:t>QUESTIONS</a:t>
            </a:r>
          </a:p>
        </p:txBody>
      </p:sp>
      <p:sp>
        <p:nvSpPr>
          <p:cNvPr id="4" name="Title 1">
            <a:extLst>
              <a:ext uri="{FF2B5EF4-FFF2-40B4-BE49-F238E27FC236}">
                <a16:creationId xmlns:a16="http://schemas.microsoft.com/office/drawing/2014/main" id="{93FDC808-A779-677E-E3A9-D0DDB5714139}"/>
              </a:ext>
            </a:extLst>
          </p:cNvPr>
          <p:cNvSpPr txBox="1">
            <a:spLocks/>
          </p:cNvSpPr>
          <p:nvPr/>
        </p:nvSpPr>
        <p:spPr>
          <a:xfrm>
            <a:off x="5650990" y="4190337"/>
            <a:ext cx="2612899" cy="1709917"/>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Bef>
                <a:spcPts val="1200"/>
              </a:spcBef>
              <a:buClr>
                <a:schemeClr val="accent1">
                  <a:lumMod val="75000"/>
                </a:schemeClr>
              </a:buClr>
              <a:buSzPct val="85000"/>
            </a:pPr>
            <a:r>
              <a:rPr lang="en-US" sz="2200" b="1">
                <a:latin typeface="+mn-lt"/>
                <a:ea typeface="+mn-ea"/>
                <a:cs typeface="+mn-cs"/>
              </a:rPr>
              <a:t>What Questions do You have?</a:t>
            </a:r>
          </a:p>
        </p:txBody>
      </p:sp>
      <p:sp>
        <p:nvSpPr>
          <p:cNvPr id="24" name="Rectangle 23">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128670"/>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Slide Number Placeholder 1">
            <a:extLst>
              <a:ext uri="{FF2B5EF4-FFF2-40B4-BE49-F238E27FC236}">
                <a16:creationId xmlns:a16="http://schemas.microsoft.com/office/drawing/2014/main" id="{16153705-03DF-43F6-8873-9498AB143C4B}"/>
              </a:ext>
            </a:extLst>
          </p:cNvPr>
          <p:cNvSpPr>
            <a:spLocks noGrp="1"/>
          </p:cNvSpPr>
          <p:nvPr>
            <p:ph type="sldNum" sz="quarter" idx="12"/>
          </p:nvPr>
        </p:nvSpPr>
        <p:spPr>
          <a:xfrm>
            <a:off x="8428482" y="6132125"/>
            <a:ext cx="594260" cy="605872"/>
          </a:xfrm>
        </p:spPr>
        <p:txBody>
          <a:bodyPr vert="horz" lIns="91440" tIns="45720" rIns="91440" bIns="45720" rtlCol="0" anchor="ctr">
            <a:normAutofit/>
          </a:bodyPr>
          <a:lstStyle/>
          <a:p>
            <a:pPr defTabSz="457200">
              <a:spcAft>
                <a:spcPts val="600"/>
              </a:spcAft>
            </a:pPr>
            <a:fld id="{AE69A6E1-87B6-4888-99CE-AC2AEA6F8539}" type="slidenum">
              <a:rPr lang="en-US" sz="1700">
                <a:latin typeface="+mj-lt"/>
              </a:rPr>
              <a:pPr defTabSz="457200">
                <a:spcAft>
                  <a:spcPts val="600"/>
                </a:spcAft>
              </a:pPr>
              <a:t>22</a:t>
            </a:fld>
            <a:endParaRPr lang="en-US" sz="1700">
              <a:latin typeface="+mj-lt"/>
            </a:endParaRPr>
          </a:p>
        </p:txBody>
      </p:sp>
    </p:spTree>
    <p:extLst>
      <p:ext uri="{BB962C8B-B14F-4D97-AF65-F5344CB8AC3E}">
        <p14:creationId xmlns:p14="http://schemas.microsoft.com/office/powerpoint/2010/main" val="266444550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1782</TotalTime>
  <Words>1845</Words>
  <Application>Microsoft Office PowerPoint</Application>
  <PresentationFormat>On-screen Show (4:3)</PresentationFormat>
  <Paragraphs>328</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Rockwell Extra Bold</vt:lpstr>
      <vt:lpstr>Tahoma</vt:lpstr>
      <vt:lpstr>Wingdings</vt:lpstr>
      <vt:lpstr>Wood Type</vt:lpstr>
      <vt:lpstr>Robobots documentation Training</vt:lpstr>
      <vt:lpstr>Keys to Success</vt:lpstr>
      <vt:lpstr>The Google Drive</vt:lpstr>
      <vt:lpstr>Doing Well in the Interview</vt:lpstr>
      <vt:lpstr>Strong Documentation</vt:lpstr>
      <vt:lpstr>Team Procedures</vt:lpstr>
      <vt:lpstr>Design Motivation/Strategy</vt:lpstr>
      <vt:lpstr>Team Procedures Team Management </vt:lpstr>
      <vt:lpstr>PowerPoint Presentation</vt:lpstr>
      <vt:lpstr>Team Procedures  Material Management  Accounting</vt:lpstr>
      <vt:lpstr>Team Procedures  Time Management </vt:lpstr>
      <vt:lpstr>PowerPoint Presentation</vt:lpstr>
      <vt:lpstr>Design Process</vt:lpstr>
      <vt:lpstr>Design Process (continued)</vt:lpstr>
      <vt:lpstr>Design Process (continued)</vt:lpstr>
      <vt:lpstr>Design Process (continued)</vt:lpstr>
      <vt:lpstr>Design Process (continued)</vt:lpstr>
      <vt:lpstr>Design Process Wiring Schematic Example</vt:lpstr>
      <vt:lpstr>Design Process (continued)</vt:lpstr>
      <vt:lpstr>Design Process (continued)</vt:lpstr>
      <vt:lpstr>PowerPoint Presentation</vt:lpstr>
      <vt:lpstr>PowerPoint Presentation</vt:lpstr>
    </vt:vector>
  </TitlesOfParts>
  <Company>ESCO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ESCO</dc:creator>
  <cp:lastModifiedBy>Dione DeMitro</cp:lastModifiedBy>
  <cp:revision>68</cp:revision>
  <dcterms:created xsi:type="dcterms:W3CDTF">2013-07-25T01:02:27Z</dcterms:created>
  <dcterms:modified xsi:type="dcterms:W3CDTF">2025-11-03T19:56:22Z</dcterms:modified>
</cp:coreProperties>
</file>